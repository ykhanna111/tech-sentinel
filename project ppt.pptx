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4" r:id="rId1"/>
  </p:sldMasterIdLst>
  <p:notesMasterIdLst>
    <p:notesMasterId r:id="rId19"/>
  </p:notesMasterIdLst>
  <p:handoutMasterIdLst>
    <p:handoutMasterId r:id="rId20"/>
  </p:handoutMasterIdLst>
  <p:sldIdLst>
    <p:sldId id="256" r:id="rId2"/>
    <p:sldId id="274" r:id="rId3"/>
    <p:sldId id="275" r:id="rId4"/>
    <p:sldId id="276" r:id="rId5"/>
    <p:sldId id="277" r:id="rId6"/>
    <p:sldId id="278" r:id="rId7"/>
    <p:sldId id="279" r:id="rId8"/>
    <p:sldId id="280" r:id="rId9"/>
    <p:sldId id="282" r:id="rId10"/>
    <p:sldId id="289" r:id="rId11"/>
    <p:sldId id="286" r:id="rId12"/>
    <p:sldId id="287" r:id="rId13"/>
    <p:sldId id="288" r:id="rId14"/>
    <p:sldId id="283" r:id="rId15"/>
    <p:sldId id="284" r:id="rId16"/>
    <p:sldId id="285" r:id="rId17"/>
    <p:sldId id="265" r:id="rId18"/>
  </p:sldIdLst>
  <p:sldSz cx="19010313" cy="10693400"/>
  <p:notesSz cx="7556500" cy="10693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44" userDrawn="1">
          <p15:clr>
            <a:srgbClr val="A4A3A4"/>
          </p15:clr>
        </p15:guide>
        <p15:guide id="2" pos="11460" userDrawn="1">
          <p15:clr>
            <a:srgbClr val="A4A3A4"/>
          </p15:clr>
        </p15:guide>
        <p15:guide id="4" orient="horz" pos="4952" userDrawn="1">
          <p15:clr>
            <a:srgbClr val="A4A3A4"/>
          </p15:clr>
        </p15:guide>
        <p15:guide id="5" pos="660" userDrawn="1">
          <p15:clr>
            <a:srgbClr val="A4A3A4"/>
          </p15:clr>
        </p15:guide>
        <p15:guide id="6" pos="5988"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atharth Khanna_Manipal University Jaipur" initials="YK" lastIdx="1" clrIdx="0">
    <p:extLst>
      <p:ext uri="{19B8F6BF-5375-455C-9EA6-DF929625EA0E}">
        <p15:presenceInfo xmlns:p15="http://schemas.microsoft.com/office/powerpoint/2012/main" userId="fec7e434350d650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BF00"/>
    <a:srgbClr val="E3B525"/>
    <a:srgbClr val="009EF3"/>
    <a:srgbClr val="FFA1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341" autoAdjust="0"/>
    <p:restoredTop sz="94682" autoAdjust="0"/>
  </p:normalViewPr>
  <p:slideViewPr>
    <p:cSldViewPr>
      <p:cViewPr varScale="1">
        <p:scale>
          <a:sx n="55" d="100"/>
          <a:sy n="55" d="100"/>
        </p:scale>
        <p:origin x="499" y="-34"/>
      </p:cViewPr>
      <p:guideLst>
        <p:guide orient="horz" pos="344"/>
        <p:guide pos="11460"/>
        <p:guide orient="horz" pos="4952"/>
        <p:guide pos="660"/>
        <p:guide pos="5988"/>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47" d="100"/>
          <a:sy n="47" d="100"/>
        </p:scale>
        <p:origin x="2934" y="6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B946A3-76A1-4F27-921C-DAB0E495E531}"/>
              </a:ext>
            </a:extLst>
          </p:cNvPr>
          <p:cNvSpPr>
            <a:spLocks noGrp="1"/>
          </p:cNvSpPr>
          <p:nvPr>
            <p:ph type="hdr" sz="quarter"/>
          </p:nvPr>
        </p:nvSpPr>
        <p:spPr>
          <a:xfrm>
            <a:off x="0" y="0"/>
            <a:ext cx="3275013" cy="536575"/>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3CA7EE4B-E01C-4D1F-B05A-BB57F01CAAE0}"/>
              </a:ext>
            </a:extLst>
          </p:cNvPr>
          <p:cNvSpPr>
            <a:spLocks noGrp="1"/>
          </p:cNvSpPr>
          <p:nvPr>
            <p:ph type="dt" sz="quarter" idx="1"/>
          </p:nvPr>
        </p:nvSpPr>
        <p:spPr>
          <a:xfrm>
            <a:off x="4279900" y="0"/>
            <a:ext cx="3275013" cy="536575"/>
          </a:xfrm>
          <a:prstGeom prst="rect">
            <a:avLst/>
          </a:prstGeom>
        </p:spPr>
        <p:txBody>
          <a:bodyPr vert="horz" lIns="91440" tIns="45720" rIns="91440" bIns="45720" rtlCol="0"/>
          <a:lstStyle>
            <a:lvl1pPr algn="r">
              <a:defRPr sz="1200"/>
            </a:lvl1pPr>
          </a:lstStyle>
          <a:p>
            <a:fld id="{C67D92E0-5330-4EA0-AE47-CB56A73A0B2F}" type="datetimeFigureOut">
              <a:rPr lang="en-IN" smtClean="0"/>
              <a:t>28-10-2025</a:t>
            </a:fld>
            <a:endParaRPr lang="en-IN"/>
          </a:p>
        </p:txBody>
      </p:sp>
      <p:sp>
        <p:nvSpPr>
          <p:cNvPr id="4" name="Footer Placeholder 3">
            <a:extLst>
              <a:ext uri="{FF2B5EF4-FFF2-40B4-BE49-F238E27FC236}">
                <a16:creationId xmlns:a16="http://schemas.microsoft.com/office/drawing/2014/main" id="{6CC589E6-8F6E-489B-A1AC-F5D074117D4D}"/>
              </a:ext>
            </a:extLst>
          </p:cNvPr>
          <p:cNvSpPr>
            <a:spLocks noGrp="1"/>
          </p:cNvSpPr>
          <p:nvPr>
            <p:ph type="ftr" sz="quarter" idx="2"/>
          </p:nvPr>
        </p:nvSpPr>
        <p:spPr>
          <a:xfrm>
            <a:off x="0" y="10156825"/>
            <a:ext cx="3275013" cy="536575"/>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05D73BE2-5BC0-4323-A587-A14F43AEAAE1}"/>
              </a:ext>
            </a:extLst>
          </p:cNvPr>
          <p:cNvSpPr>
            <a:spLocks noGrp="1"/>
          </p:cNvSpPr>
          <p:nvPr>
            <p:ph type="sldNum" sz="quarter" idx="3"/>
          </p:nvPr>
        </p:nvSpPr>
        <p:spPr>
          <a:xfrm>
            <a:off x="4279900" y="10156825"/>
            <a:ext cx="3275013" cy="536575"/>
          </a:xfrm>
          <a:prstGeom prst="rect">
            <a:avLst/>
          </a:prstGeom>
        </p:spPr>
        <p:txBody>
          <a:bodyPr vert="horz" lIns="91440" tIns="45720" rIns="91440" bIns="45720" rtlCol="0" anchor="b"/>
          <a:lstStyle>
            <a:lvl1pPr algn="r">
              <a:defRPr sz="1200"/>
            </a:lvl1pPr>
          </a:lstStyle>
          <a:p>
            <a:fld id="{0E773C24-77A2-47FA-A72C-AD3434E6DB10}" type="slidenum">
              <a:rPr lang="en-IN" smtClean="0"/>
              <a:t>‹#›</a:t>
            </a:fld>
            <a:endParaRPr lang="en-IN"/>
          </a:p>
        </p:txBody>
      </p:sp>
    </p:spTree>
    <p:extLst>
      <p:ext uri="{BB962C8B-B14F-4D97-AF65-F5344CB8AC3E}">
        <p14:creationId xmlns:p14="http://schemas.microsoft.com/office/powerpoint/2010/main" val="2044725635"/>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3-02T10:35:07.067"/>
    </inkml:context>
    <inkml:brush xml:id="br0">
      <inkml:brushProperty name="width" value="0.05" units="cm"/>
      <inkml:brushProperty name="height" value="0.05" units="cm"/>
      <inkml:brushProperty name="color" value="#004F8B"/>
    </inkml:brush>
  </inkml:definitions>
  <inkml:trace contextRef="#ctx0" brushRef="#br0">0 0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3-02T10:36:42.188"/>
    </inkml:context>
    <inkml:brush xml:id="br0">
      <inkml:brushProperty name="width" value="0.05" units="cm"/>
      <inkml:brushProperty name="height" value="0.05" units="cm"/>
      <inkml:brushProperty name="color" value="#004F8B"/>
    </inkml:brush>
  </inkml:definitions>
  <inkml:trace contextRef="#ctx0" brushRef="#br0">1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5013" cy="536575"/>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4279900" y="0"/>
            <a:ext cx="3275013" cy="536575"/>
          </a:xfrm>
          <a:prstGeom prst="rect">
            <a:avLst/>
          </a:prstGeom>
        </p:spPr>
        <p:txBody>
          <a:bodyPr vert="horz" lIns="91440" tIns="45720" rIns="91440" bIns="45720" rtlCol="0"/>
          <a:lstStyle>
            <a:lvl1pPr algn="r">
              <a:defRPr sz="1200"/>
            </a:lvl1pPr>
          </a:lstStyle>
          <a:p>
            <a:fld id="{A2BF3456-A29E-41FE-BFB7-B24F24BEE47B}" type="datetimeFigureOut">
              <a:rPr lang="cs-CZ" smtClean="0"/>
              <a:t>28.10.2025</a:t>
            </a:fld>
            <a:endParaRPr lang="cs-CZ"/>
          </a:p>
        </p:txBody>
      </p:sp>
      <p:sp>
        <p:nvSpPr>
          <p:cNvPr id="4" name="Slide Image Placeholder 3"/>
          <p:cNvSpPr>
            <a:spLocks noGrp="1" noRot="1" noChangeAspect="1"/>
          </p:cNvSpPr>
          <p:nvPr>
            <p:ph type="sldImg" idx="2"/>
          </p:nvPr>
        </p:nvSpPr>
        <p:spPr>
          <a:xfrm>
            <a:off x="571500" y="1336675"/>
            <a:ext cx="6413500" cy="3608388"/>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755650" y="5146675"/>
            <a:ext cx="6045200" cy="42100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10156825"/>
            <a:ext cx="3275013" cy="536575"/>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4279900" y="10156825"/>
            <a:ext cx="3275013" cy="536575"/>
          </a:xfrm>
          <a:prstGeom prst="rect">
            <a:avLst/>
          </a:prstGeom>
        </p:spPr>
        <p:txBody>
          <a:bodyPr vert="horz" lIns="91440" tIns="45720" rIns="91440" bIns="45720" rtlCol="0" anchor="b"/>
          <a:lstStyle>
            <a:lvl1pPr algn="r">
              <a:defRPr sz="1200"/>
            </a:lvl1pPr>
          </a:lstStyle>
          <a:p>
            <a:fld id="{DD95B543-0236-4AEE-9F15-C7CF1150485F}" type="slidenum">
              <a:rPr lang="cs-CZ" smtClean="0"/>
              <a:t>‹#›</a:t>
            </a:fld>
            <a:endParaRPr lang="cs-CZ"/>
          </a:p>
        </p:txBody>
      </p:sp>
    </p:spTree>
    <p:extLst>
      <p:ext uri="{BB962C8B-B14F-4D97-AF65-F5344CB8AC3E}">
        <p14:creationId xmlns:p14="http://schemas.microsoft.com/office/powerpoint/2010/main" val="522572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cs-CZ" dirty="0"/>
          </a:p>
        </p:txBody>
      </p:sp>
      <p:sp>
        <p:nvSpPr>
          <p:cNvPr id="4" name="Slide Number Placeholder 3"/>
          <p:cNvSpPr>
            <a:spLocks noGrp="1"/>
          </p:cNvSpPr>
          <p:nvPr>
            <p:ph type="sldNum" sz="quarter" idx="5"/>
          </p:nvPr>
        </p:nvSpPr>
        <p:spPr/>
        <p:txBody>
          <a:bodyPr/>
          <a:lstStyle/>
          <a:p>
            <a:fld id="{DD95B543-0236-4AEE-9F15-C7CF1150485F}" type="slidenum">
              <a:rPr lang="cs-CZ" smtClean="0"/>
              <a:t>1</a:t>
            </a:fld>
            <a:endParaRPr lang="cs-CZ"/>
          </a:p>
        </p:txBody>
      </p:sp>
    </p:spTree>
    <p:extLst>
      <p:ext uri="{BB962C8B-B14F-4D97-AF65-F5344CB8AC3E}">
        <p14:creationId xmlns:p14="http://schemas.microsoft.com/office/powerpoint/2010/main" val="4407332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40C19-6676-45C4-89C8-0EE4680D068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B85C3D0-9A6E-4411-BEC5-BCE5E87150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4030354-3C13-4A82-8A18-042358CE22E1}"/>
              </a:ext>
            </a:extLst>
          </p:cNvPr>
          <p:cNvSpPr>
            <a:spLocks noGrp="1"/>
          </p:cNvSpPr>
          <p:nvPr>
            <p:ph type="dt" sz="half" idx="10"/>
          </p:nvPr>
        </p:nvSpPr>
        <p:spPr/>
        <p:txBody>
          <a:bodyPr/>
          <a:lstStyle/>
          <a:p>
            <a:fld id="{6BE71818-9020-4445-8B08-F0BF46B2FEC8}" type="datetime1">
              <a:rPr lang="en-IN" smtClean="0"/>
              <a:t>28-10-2025</a:t>
            </a:fld>
            <a:endParaRPr lang="en-IN"/>
          </a:p>
        </p:txBody>
      </p:sp>
      <p:sp>
        <p:nvSpPr>
          <p:cNvPr id="5" name="Footer Placeholder 4">
            <a:extLst>
              <a:ext uri="{FF2B5EF4-FFF2-40B4-BE49-F238E27FC236}">
                <a16:creationId xmlns:a16="http://schemas.microsoft.com/office/drawing/2014/main" id="{8D028A48-9A7E-47A6-AFC4-2FDB6F3A5F7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960CBE5-F8EF-4027-9832-9C1BAFF9A41B}"/>
              </a:ext>
            </a:extLst>
          </p:cNvPr>
          <p:cNvSpPr>
            <a:spLocks noGrp="1"/>
          </p:cNvSpPr>
          <p:nvPr>
            <p:ph type="sldNum" sz="quarter" idx="12"/>
          </p:nvPr>
        </p:nvSpPr>
        <p:spPr/>
        <p:txBody>
          <a:bodyPr/>
          <a:lstStyle/>
          <a:p>
            <a:fld id="{DCC7CF5C-16A0-4876-B638-15BC6385E45C}" type="slidenum">
              <a:rPr lang="en-IN" smtClean="0"/>
              <a:t>‹#›</a:t>
            </a:fld>
            <a:endParaRPr lang="en-IN"/>
          </a:p>
        </p:txBody>
      </p:sp>
    </p:spTree>
    <p:extLst>
      <p:ext uri="{BB962C8B-B14F-4D97-AF65-F5344CB8AC3E}">
        <p14:creationId xmlns:p14="http://schemas.microsoft.com/office/powerpoint/2010/main" val="2921583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99BF97-2E16-4257-BDA7-D5A7BEFB2A44}"/>
              </a:ext>
            </a:extLst>
          </p:cNvPr>
          <p:cNvSpPr>
            <a:spLocks noGrp="1"/>
          </p:cNvSpPr>
          <p:nvPr>
            <p:ph type="dt" sz="half" idx="10"/>
          </p:nvPr>
        </p:nvSpPr>
        <p:spPr/>
        <p:txBody>
          <a:bodyPr/>
          <a:lstStyle/>
          <a:p>
            <a:fld id="{EA8A1AFC-9F3B-438B-B10C-E9A9073FAD5F}" type="datetime1">
              <a:rPr lang="en-IN" smtClean="0"/>
              <a:t>28-10-2025</a:t>
            </a:fld>
            <a:endParaRPr lang="en-IN"/>
          </a:p>
        </p:txBody>
      </p:sp>
      <p:sp>
        <p:nvSpPr>
          <p:cNvPr id="3" name="Footer Placeholder 2">
            <a:extLst>
              <a:ext uri="{FF2B5EF4-FFF2-40B4-BE49-F238E27FC236}">
                <a16:creationId xmlns:a16="http://schemas.microsoft.com/office/drawing/2014/main" id="{4BAA0A67-B437-4EA6-8377-F0E6167F27C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E5B5BA1-8791-456F-B896-A68E85626A00}"/>
              </a:ext>
            </a:extLst>
          </p:cNvPr>
          <p:cNvSpPr>
            <a:spLocks noGrp="1"/>
          </p:cNvSpPr>
          <p:nvPr>
            <p:ph type="sldNum" sz="quarter" idx="12"/>
          </p:nvPr>
        </p:nvSpPr>
        <p:spPr/>
        <p:txBody>
          <a:bodyPr/>
          <a:lstStyle/>
          <a:p>
            <a:fld id="{DCC7CF5C-16A0-4876-B638-15BC6385E45C}" type="slidenum">
              <a:rPr lang="en-IN" smtClean="0"/>
              <a:t>‹#›</a:t>
            </a:fld>
            <a:endParaRPr lang="en-IN"/>
          </a:p>
        </p:txBody>
      </p:sp>
      <p:sp>
        <p:nvSpPr>
          <p:cNvPr id="11" name="Title 1">
            <a:extLst>
              <a:ext uri="{FF2B5EF4-FFF2-40B4-BE49-F238E27FC236}">
                <a16:creationId xmlns:a16="http://schemas.microsoft.com/office/drawing/2014/main" id="{22F713B7-3969-431A-945B-0B6447D08377}"/>
              </a:ext>
            </a:extLst>
          </p:cNvPr>
          <p:cNvSpPr>
            <a:spLocks noGrp="1"/>
          </p:cNvSpPr>
          <p:nvPr>
            <p:ph type="title"/>
          </p:nvPr>
        </p:nvSpPr>
        <p:spPr>
          <a:xfrm>
            <a:off x="1306513" y="868343"/>
            <a:ext cx="16397287" cy="1698646"/>
          </a:xfrm>
        </p:spPr>
        <p:txBody>
          <a:bodyPr/>
          <a:lstStyle/>
          <a:p>
            <a:r>
              <a:rPr lang="en-US"/>
              <a:t>Click to edit Master title style</a:t>
            </a:r>
            <a:endParaRPr lang="en-IN"/>
          </a:p>
        </p:txBody>
      </p:sp>
      <p:sp>
        <p:nvSpPr>
          <p:cNvPr id="12" name="Content Placeholder 2">
            <a:extLst>
              <a:ext uri="{FF2B5EF4-FFF2-40B4-BE49-F238E27FC236}">
                <a16:creationId xmlns:a16="http://schemas.microsoft.com/office/drawing/2014/main" id="{BF0AEC5C-AA2F-4FC8-A243-98F784E2D88B}"/>
              </a:ext>
            </a:extLst>
          </p:cNvPr>
          <p:cNvSpPr>
            <a:spLocks noGrp="1"/>
          </p:cNvSpPr>
          <p:nvPr>
            <p:ph idx="1"/>
          </p:nvPr>
        </p:nvSpPr>
        <p:spPr>
          <a:xfrm>
            <a:off x="1306513" y="2846388"/>
            <a:ext cx="16397287" cy="6784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60836721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7B76D8-5512-41AC-B91C-3F1DA01E16F0}"/>
              </a:ext>
            </a:extLst>
          </p:cNvPr>
          <p:cNvSpPr>
            <a:spLocks noGrp="1"/>
          </p:cNvSpPr>
          <p:nvPr>
            <p:ph type="title"/>
          </p:nvPr>
        </p:nvSpPr>
        <p:spPr>
          <a:xfrm>
            <a:off x="1306513" y="868343"/>
            <a:ext cx="16397287" cy="1698646"/>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100527EC-34A7-4414-AF7D-31CF6E49CBC7}"/>
              </a:ext>
            </a:extLst>
          </p:cNvPr>
          <p:cNvSpPr>
            <a:spLocks noGrp="1"/>
          </p:cNvSpPr>
          <p:nvPr>
            <p:ph type="body" idx="1"/>
          </p:nvPr>
        </p:nvSpPr>
        <p:spPr>
          <a:xfrm>
            <a:off x="1306513" y="2846388"/>
            <a:ext cx="16397287" cy="678497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576F92BE-5B1B-4D72-9410-922D75C605A8}"/>
              </a:ext>
            </a:extLst>
          </p:cNvPr>
          <p:cNvSpPr>
            <a:spLocks noGrp="1"/>
          </p:cNvSpPr>
          <p:nvPr>
            <p:ph type="dt" sz="half" idx="2"/>
          </p:nvPr>
        </p:nvSpPr>
        <p:spPr>
          <a:xfrm>
            <a:off x="1306513" y="9910763"/>
            <a:ext cx="4278312" cy="569912"/>
          </a:xfrm>
          <a:prstGeom prst="rect">
            <a:avLst/>
          </a:prstGeom>
        </p:spPr>
        <p:txBody>
          <a:bodyPr vert="horz" lIns="91440" tIns="45720" rIns="91440" bIns="45720" rtlCol="0" anchor="ctr"/>
          <a:lstStyle>
            <a:lvl1pPr algn="l">
              <a:defRPr sz="1200">
                <a:solidFill>
                  <a:schemeClr val="tx1">
                    <a:tint val="75000"/>
                  </a:schemeClr>
                </a:solidFill>
              </a:defRPr>
            </a:lvl1pPr>
          </a:lstStyle>
          <a:p>
            <a:fld id="{2BA58D55-FBFA-419D-B507-FB17C344CD39}" type="datetime1">
              <a:rPr lang="en-IN" smtClean="0"/>
              <a:t>28-10-2025</a:t>
            </a:fld>
            <a:endParaRPr lang="en-IN"/>
          </a:p>
        </p:txBody>
      </p:sp>
      <p:sp>
        <p:nvSpPr>
          <p:cNvPr id="5" name="Footer Placeholder 4">
            <a:extLst>
              <a:ext uri="{FF2B5EF4-FFF2-40B4-BE49-F238E27FC236}">
                <a16:creationId xmlns:a16="http://schemas.microsoft.com/office/drawing/2014/main" id="{EF3EF42E-71F6-48A8-82C4-A96120D40654}"/>
              </a:ext>
            </a:extLst>
          </p:cNvPr>
          <p:cNvSpPr>
            <a:spLocks noGrp="1"/>
          </p:cNvSpPr>
          <p:nvPr>
            <p:ph type="ftr" sz="quarter" idx="3"/>
          </p:nvPr>
        </p:nvSpPr>
        <p:spPr>
          <a:xfrm>
            <a:off x="6297613" y="9910763"/>
            <a:ext cx="6415087" cy="569912"/>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25E333A-4756-4CC3-97B2-242AA876CE83}"/>
              </a:ext>
            </a:extLst>
          </p:cNvPr>
          <p:cNvSpPr>
            <a:spLocks noGrp="1"/>
          </p:cNvSpPr>
          <p:nvPr>
            <p:ph type="sldNum" sz="quarter" idx="4"/>
          </p:nvPr>
        </p:nvSpPr>
        <p:spPr>
          <a:xfrm>
            <a:off x="13425488" y="9910763"/>
            <a:ext cx="4278312" cy="569912"/>
          </a:xfrm>
          <a:prstGeom prst="rect">
            <a:avLst/>
          </a:prstGeom>
        </p:spPr>
        <p:txBody>
          <a:bodyPr vert="horz" lIns="91440" tIns="45720" rIns="91440" bIns="45720" rtlCol="0" anchor="ctr"/>
          <a:lstStyle>
            <a:lvl1pPr algn="r">
              <a:defRPr sz="1200">
                <a:solidFill>
                  <a:schemeClr val="tx1">
                    <a:tint val="75000"/>
                  </a:schemeClr>
                </a:solidFill>
              </a:defRPr>
            </a:lvl1pPr>
          </a:lstStyle>
          <a:p>
            <a:fld id="{DCC7CF5C-16A0-4876-B638-15BC6385E45C}" type="slidenum">
              <a:rPr lang="en-IN" smtClean="0"/>
              <a:t>‹#›</a:t>
            </a:fld>
            <a:endParaRPr lang="en-IN"/>
          </a:p>
        </p:txBody>
      </p:sp>
      <p:grpSp>
        <p:nvGrpSpPr>
          <p:cNvPr id="7" name="Group 6">
            <a:extLst>
              <a:ext uri="{FF2B5EF4-FFF2-40B4-BE49-F238E27FC236}">
                <a16:creationId xmlns:a16="http://schemas.microsoft.com/office/drawing/2014/main" id="{412FA932-DB78-408E-8C6B-2AB0F4D62885}"/>
              </a:ext>
            </a:extLst>
          </p:cNvPr>
          <p:cNvGrpSpPr/>
          <p:nvPr userDrawn="1"/>
        </p:nvGrpSpPr>
        <p:grpSpPr>
          <a:xfrm>
            <a:off x="0" y="2"/>
            <a:ext cx="19010313" cy="569912"/>
            <a:chOff x="-324644" y="2222500"/>
            <a:chExt cx="22261685" cy="1302327"/>
          </a:xfrm>
        </p:grpSpPr>
        <p:sp>
          <p:nvSpPr>
            <p:cNvPr id="8" name="object 2">
              <a:extLst>
                <a:ext uri="{FF2B5EF4-FFF2-40B4-BE49-F238E27FC236}">
                  <a16:creationId xmlns:a16="http://schemas.microsoft.com/office/drawing/2014/main" id="{BE0569AF-7891-4E66-8312-13FA9553CDDF}"/>
                </a:ext>
              </a:extLst>
            </p:cNvPr>
            <p:cNvSpPr/>
            <p:nvPr/>
          </p:nvSpPr>
          <p:spPr>
            <a:xfrm>
              <a:off x="-324644"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009EF3"/>
            </a:solidFill>
          </p:spPr>
          <p:txBody>
            <a:bodyPr wrap="square" lIns="0" tIns="0" rIns="0" bIns="0" rtlCol="0"/>
            <a:lstStyle/>
            <a:p>
              <a:endParaRPr dirty="0"/>
            </a:p>
          </p:txBody>
        </p:sp>
        <p:sp>
          <p:nvSpPr>
            <p:cNvPr id="9" name="object 3">
              <a:extLst>
                <a:ext uri="{FF2B5EF4-FFF2-40B4-BE49-F238E27FC236}">
                  <a16:creationId xmlns:a16="http://schemas.microsoft.com/office/drawing/2014/main" id="{477B4F0E-0C41-4011-B532-3D593C27920E}"/>
                </a:ext>
              </a:extLst>
            </p:cNvPr>
            <p:cNvSpPr/>
            <p:nvPr/>
          </p:nvSpPr>
          <p:spPr>
            <a:xfrm>
              <a:off x="16363156" y="2222500"/>
              <a:ext cx="5573885" cy="1302327"/>
            </a:xfrm>
            <a:custGeom>
              <a:avLst/>
              <a:gdLst/>
              <a:ahLst/>
              <a:cxnLst/>
              <a:rect l="l" t="t" r="r" b="b"/>
              <a:pathLst>
                <a:path w="1883409" h="440055">
                  <a:moveTo>
                    <a:pt x="0" y="0"/>
                  </a:moveTo>
                  <a:lnTo>
                    <a:pt x="0" y="439737"/>
                  </a:lnTo>
                  <a:lnTo>
                    <a:pt x="1883155" y="439737"/>
                  </a:lnTo>
                  <a:lnTo>
                    <a:pt x="1883155" y="0"/>
                  </a:lnTo>
                  <a:lnTo>
                    <a:pt x="0" y="0"/>
                  </a:lnTo>
                  <a:close/>
                </a:path>
              </a:pathLst>
            </a:custGeom>
            <a:solidFill>
              <a:srgbClr val="FF8200"/>
            </a:solidFill>
          </p:spPr>
          <p:txBody>
            <a:bodyPr wrap="square" lIns="0" tIns="0" rIns="0" bIns="0" rtlCol="0"/>
            <a:lstStyle/>
            <a:p>
              <a:endParaRPr dirty="0"/>
            </a:p>
          </p:txBody>
        </p:sp>
        <p:sp>
          <p:nvSpPr>
            <p:cNvPr id="10" name="object 2">
              <a:extLst>
                <a:ext uri="{FF2B5EF4-FFF2-40B4-BE49-F238E27FC236}">
                  <a16:creationId xmlns:a16="http://schemas.microsoft.com/office/drawing/2014/main" id="{4B2A0F23-A767-4B27-B679-3E520C7B659E}"/>
                </a:ext>
              </a:extLst>
            </p:cNvPr>
            <p:cNvSpPr/>
            <p:nvPr/>
          </p:nvSpPr>
          <p:spPr>
            <a:xfrm>
              <a:off x="5237956"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FFBF00"/>
            </a:solidFill>
          </p:spPr>
          <p:txBody>
            <a:bodyPr wrap="square" lIns="0" tIns="0" rIns="0" bIns="0" rtlCol="0"/>
            <a:lstStyle/>
            <a:p>
              <a:endParaRPr dirty="0"/>
            </a:p>
          </p:txBody>
        </p:sp>
        <p:sp>
          <p:nvSpPr>
            <p:cNvPr id="11" name="object 2">
              <a:extLst>
                <a:ext uri="{FF2B5EF4-FFF2-40B4-BE49-F238E27FC236}">
                  <a16:creationId xmlns:a16="http://schemas.microsoft.com/office/drawing/2014/main" id="{2D563E18-2BCA-47EF-B0EE-B4D615B274B3}"/>
                </a:ext>
              </a:extLst>
            </p:cNvPr>
            <p:cNvSpPr/>
            <p:nvPr/>
          </p:nvSpPr>
          <p:spPr>
            <a:xfrm>
              <a:off x="10800556"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FFA100"/>
            </a:solidFill>
          </p:spPr>
          <p:txBody>
            <a:bodyPr wrap="square" lIns="0" tIns="0" rIns="0" bIns="0" rtlCol="0"/>
            <a:lstStyle/>
            <a:p>
              <a:endParaRPr dirty="0"/>
            </a:p>
          </p:txBody>
        </p:sp>
      </p:grpSp>
      <p:sp>
        <p:nvSpPr>
          <p:cNvPr id="12" name="object 4">
            <a:extLst>
              <a:ext uri="{FF2B5EF4-FFF2-40B4-BE49-F238E27FC236}">
                <a16:creationId xmlns:a16="http://schemas.microsoft.com/office/drawing/2014/main" id="{B5638419-A448-484C-8A51-58B1674B4F40}"/>
              </a:ext>
            </a:extLst>
          </p:cNvPr>
          <p:cNvSpPr txBox="1"/>
          <p:nvPr userDrawn="1"/>
        </p:nvSpPr>
        <p:spPr>
          <a:xfrm>
            <a:off x="818356" y="22299"/>
            <a:ext cx="3835570" cy="505267"/>
          </a:xfrm>
          <a:prstGeom prst="rect">
            <a:avLst/>
          </a:prstGeom>
        </p:spPr>
        <p:txBody>
          <a:bodyPr vert="horz" wrap="square" lIns="0" tIns="12700" rIns="0" bIns="0" rtlCol="0">
            <a:spAutoFit/>
          </a:bodyPr>
          <a:lstStyle/>
          <a:p>
            <a:pPr marL="12700">
              <a:spcBef>
                <a:spcPts val="100"/>
              </a:spcBef>
            </a:pPr>
            <a:r>
              <a:rPr sz="3200" spc="-10" dirty="0">
                <a:solidFill>
                  <a:srgbClr val="FFFFFF"/>
                </a:solidFill>
                <a:cs typeface="Source Sans Pro Light"/>
              </a:rPr>
              <a:t>Duration: </a:t>
            </a:r>
            <a:r>
              <a:rPr lang="en-IN" sz="3200" spc="-10" dirty="0">
                <a:solidFill>
                  <a:srgbClr val="FFFFFF"/>
                </a:solidFill>
                <a:cs typeface="Source Sans Pro Light"/>
              </a:rPr>
              <a:t>5</a:t>
            </a:r>
            <a:r>
              <a:rPr sz="3200" spc="-50" dirty="0">
                <a:solidFill>
                  <a:srgbClr val="FFFFFF"/>
                </a:solidFill>
                <a:cs typeface="Source Sans Pro Light"/>
              </a:rPr>
              <a:t> </a:t>
            </a:r>
            <a:r>
              <a:rPr lang="en-US" sz="3200" spc="-50" dirty="0">
                <a:solidFill>
                  <a:srgbClr val="FFFFFF"/>
                </a:solidFill>
                <a:cs typeface="Source Sans Pro Light"/>
              </a:rPr>
              <a:t>M</a:t>
            </a:r>
            <a:r>
              <a:rPr sz="3200" dirty="0">
                <a:solidFill>
                  <a:srgbClr val="FFFFFF"/>
                </a:solidFill>
                <a:cs typeface="Source Sans Pro Light"/>
              </a:rPr>
              <a:t>in</a:t>
            </a:r>
            <a:endParaRPr sz="3200" dirty="0">
              <a:cs typeface="Source Sans Pro Light"/>
            </a:endParaRPr>
          </a:p>
        </p:txBody>
      </p:sp>
      <p:sp>
        <p:nvSpPr>
          <p:cNvPr id="13" name="object 5">
            <a:extLst>
              <a:ext uri="{FF2B5EF4-FFF2-40B4-BE49-F238E27FC236}">
                <a16:creationId xmlns:a16="http://schemas.microsoft.com/office/drawing/2014/main" id="{6487AD0F-4D55-4C08-AAC0-FD817DD4F2C9}"/>
              </a:ext>
            </a:extLst>
          </p:cNvPr>
          <p:cNvSpPr txBox="1"/>
          <p:nvPr userDrawn="1"/>
        </p:nvSpPr>
        <p:spPr>
          <a:xfrm>
            <a:off x="5657558" y="-53900"/>
            <a:ext cx="5600198" cy="580928"/>
          </a:xfrm>
          <a:prstGeom prst="rect">
            <a:avLst/>
          </a:prstGeom>
          <a:noFill/>
        </p:spPr>
        <p:txBody>
          <a:bodyPr vert="horz" wrap="square" lIns="0" tIns="87630" rIns="0" bIns="0" rtlCol="0">
            <a:spAutoFit/>
          </a:bodyPr>
          <a:lstStyle/>
          <a:p>
            <a:pPr marL="495300">
              <a:spcBef>
                <a:spcPts val="690"/>
              </a:spcBef>
            </a:pPr>
            <a:r>
              <a:rPr lang="en-IN" sz="3200" spc="-10" dirty="0">
                <a:solidFill>
                  <a:srgbClr val="FFFFFF"/>
                </a:solidFill>
                <a:cs typeface="Source Sans Pro Light"/>
              </a:rPr>
              <a:t>AIML</a:t>
            </a:r>
            <a:endParaRPr sz="3200" dirty="0">
              <a:cs typeface="Source Sans Pro Light"/>
            </a:endParaRPr>
          </a:p>
        </p:txBody>
      </p:sp>
      <p:sp>
        <p:nvSpPr>
          <p:cNvPr id="14" name="object 6">
            <a:extLst>
              <a:ext uri="{FF2B5EF4-FFF2-40B4-BE49-F238E27FC236}">
                <a16:creationId xmlns:a16="http://schemas.microsoft.com/office/drawing/2014/main" id="{4BC1C9A4-8A82-4BE7-A4CA-E06F3D4EB3AC}"/>
              </a:ext>
            </a:extLst>
          </p:cNvPr>
          <p:cNvSpPr txBox="1"/>
          <p:nvPr userDrawn="1"/>
        </p:nvSpPr>
        <p:spPr>
          <a:xfrm>
            <a:off x="10419556" y="-53900"/>
            <a:ext cx="5600198" cy="580928"/>
          </a:xfrm>
          <a:prstGeom prst="rect">
            <a:avLst/>
          </a:prstGeom>
          <a:noFill/>
        </p:spPr>
        <p:txBody>
          <a:bodyPr vert="horz" wrap="square" lIns="0" tIns="87630" rIns="0" bIns="0" rtlCol="0">
            <a:spAutoFit/>
          </a:bodyPr>
          <a:lstStyle/>
          <a:p>
            <a:pPr marL="406400">
              <a:spcBef>
                <a:spcPts val="690"/>
              </a:spcBef>
            </a:pPr>
            <a:r>
              <a:rPr lang="en-IN" sz="3200" spc="-5" dirty="0">
                <a:solidFill>
                  <a:srgbClr val="FFFFFF"/>
                </a:solidFill>
                <a:cs typeface="Source Sans Pro Light"/>
              </a:rPr>
              <a:t>Credit</a:t>
            </a:r>
            <a:r>
              <a:rPr sz="3200" spc="-5" dirty="0">
                <a:solidFill>
                  <a:srgbClr val="FFFFFF"/>
                </a:solidFill>
                <a:cs typeface="Source Sans Pro Light"/>
              </a:rPr>
              <a:t>: </a:t>
            </a:r>
            <a:r>
              <a:rPr lang="en-IN" sz="3200" spc="-5" dirty="0">
                <a:solidFill>
                  <a:srgbClr val="FFFFFF"/>
                </a:solidFill>
                <a:cs typeface="Source Sans Pro Light"/>
              </a:rPr>
              <a:t>4</a:t>
            </a:r>
            <a:endParaRPr sz="3200" dirty="0">
              <a:cs typeface="Source Sans Pro Light"/>
            </a:endParaRPr>
          </a:p>
        </p:txBody>
      </p:sp>
      <p:sp>
        <p:nvSpPr>
          <p:cNvPr id="15" name="object 7">
            <a:extLst>
              <a:ext uri="{FF2B5EF4-FFF2-40B4-BE49-F238E27FC236}">
                <a16:creationId xmlns:a16="http://schemas.microsoft.com/office/drawing/2014/main" id="{2BCEFB63-7519-4D19-BF07-E85B3ED4C56E}"/>
              </a:ext>
            </a:extLst>
          </p:cNvPr>
          <p:cNvSpPr txBox="1"/>
          <p:nvPr userDrawn="1"/>
        </p:nvSpPr>
        <p:spPr>
          <a:xfrm>
            <a:off x="15601156" y="22300"/>
            <a:ext cx="2785059" cy="505267"/>
          </a:xfrm>
          <a:prstGeom prst="rect">
            <a:avLst/>
          </a:prstGeom>
        </p:spPr>
        <p:txBody>
          <a:bodyPr vert="horz" wrap="square" lIns="0" tIns="12700" rIns="0" bIns="0" rtlCol="0">
            <a:spAutoFit/>
          </a:bodyPr>
          <a:lstStyle/>
          <a:p>
            <a:pPr marL="12700">
              <a:spcBef>
                <a:spcPts val="100"/>
              </a:spcBef>
            </a:pPr>
            <a:r>
              <a:rPr lang="en-IN" sz="3200" spc="-15" dirty="0">
                <a:solidFill>
                  <a:srgbClr val="FFFFFF"/>
                </a:solidFill>
                <a:cs typeface="Source Sans Pro Light"/>
              </a:rPr>
              <a:t>CN | AI3103</a:t>
            </a:r>
            <a:endParaRPr sz="3200" dirty="0">
              <a:cs typeface="Source Sans Pro Light"/>
            </a:endParaRPr>
          </a:p>
        </p:txBody>
      </p:sp>
    </p:spTree>
    <p:extLst>
      <p:ext uri="{BB962C8B-B14F-4D97-AF65-F5344CB8AC3E}">
        <p14:creationId xmlns:p14="http://schemas.microsoft.com/office/powerpoint/2010/main" val="1857434239"/>
      </p:ext>
    </p:extLst>
  </p:cSld>
  <p:clrMap bg1="lt1" tx1="dk1" bg2="lt2" tx2="dk2" accent1="accent1" accent2="accent2" accent3="accent3" accent4="accent4" accent5="accent5" accent6="accent6" hlink="hlink" folHlink="folHlink"/>
  <p:sldLayoutIdLst>
    <p:sldLayoutId id="2147483706" r:id="rId1"/>
    <p:sldLayoutId id="2147483711" r:id="rId2"/>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customXml" Target="../ink/ink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yara.readthedocs.io/en/stable/"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20F95502-65C6-482A-9B40-DDCB8DAA9D75}"/>
              </a:ext>
            </a:extLst>
          </p:cNvPr>
          <p:cNvGrpSpPr/>
          <p:nvPr/>
        </p:nvGrpSpPr>
        <p:grpSpPr>
          <a:xfrm>
            <a:off x="0" y="0"/>
            <a:ext cx="19010313" cy="1112119"/>
            <a:chOff x="-324644" y="2222500"/>
            <a:chExt cx="22261685" cy="1302327"/>
          </a:xfrm>
        </p:grpSpPr>
        <p:sp>
          <p:nvSpPr>
            <p:cNvPr id="2" name="object 2"/>
            <p:cNvSpPr/>
            <p:nvPr/>
          </p:nvSpPr>
          <p:spPr>
            <a:xfrm>
              <a:off x="-324644"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009EF3"/>
            </a:solidFill>
          </p:spPr>
          <p:txBody>
            <a:bodyPr wrap="square" lIns="0" tIns="0" rIns="0" bIns="0" rtlCol="0"/>
            <a:lstStyle/>
            <a:p>
              <a:endParaRPr dirty="0"/>
            </a:p>
          </p:txBody>
        </p:sp>
        <p:sp>
          <p:nvSpPr>
            <p:cNvPr id="3" name="object 3"/>
            <p:cNvSpPr/>
            <p:nvPr/>
          </p:nvSpPr>
          <p:spPr>
            <a:xfrm>
              <a:off x="16363156" y="2222500"/>
              <a:ext cx="5573885" cy="1302327"/>
            </a:xfrm>
            <a:custGeom>
              <a:avLst/>
              <a:gdLst/>
              <a:ahLst/>
              <a:cxnLst/>
              <a:rect l="l" t="t" r="r" b="b"/>
              <a:pathLst>
                <a:path w="1883409" h="440055">
                  <a:moveTo>
                    <a:pt x="0" y="0"/>
                  </a:moveTo>
                  <a:lnTo>
                    <a:pt x="0" y="439737"/>
                  </a:lnTo>
                  <a:lnTo>
                    <a:pt x="1883155" y="439737"/>
                  </a:lnTo>
                  <a:lnTo>
                    <a:pt x="1883155" y="0"/>
                  </a:lnTo>
                  <a:lnTo>
                    <a:pt x="0" y="0"/>
                  </a:lnTo>
                  <a:close/>
                </a:path>
              </a:pathLst>
            </a:custGeom>
            <a:solidFill>
              <a:srgbClr val="FF8200"/>
            </a:solidFill>
          </p:spPr>
          <p:txBody>
            <a:bodyPr wrap="square" lIns="0" tIns="0" rIns="0" bIns="0" rtlCol="0"/>
            <a:lstStyle/>
            <a:p>
              <a:endParaRPr dirty="0"/>
            </a:p>
          </p:txBody>
        </p:sp>
        <p:sp>
          <p:nvSpPr>
            <p:cNvPr id="22" name="object 2">
              <a:extLst>
                <a:ext uri="{FF2B5EF4-FFF2-40B4-BE49-F238E27FC236}">
                  <a16:creationId xmlns:a16="http://schemas.microsoft.com/office/drawing/2014/main" id="{3708B453-DDCE-42C1-9AB9-A8D5DDCA46AD}"/>
                </a:ext>
              </a:extLst>
            </p:cNvPr>
            <p:cNvSpPr/>
            <p:nvPr/>
          </p:nvSpPr>
          <p:spPr>
            <a:xfrm>
              <a:off x="5237956"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FFBF00"/>
            </a:solidFill>
          </p:spPr>
          <p:txBody>
            <a:bodyPr wrap="square" lIns="0" tIns="0" rIns="0" bIns="0" rtlCol="0"/>
            <a:lstStyle/>
            <a:p>
              <a:endParaRPr dirty="0"/>
            </a:p>
          </p:txBody>
        </p:sp>
        <p:sp>
          <p:nvSpPr>
            <p:cNvPr id="23" name="object 2">
              <a:extLst>
                <a:ext uri="{FF2B5EF4-FFF2-40B4-BE49-F238E27FC236}">
                  <a16:creationId xmlns:a16="http://schemas.microsoft.com/office/drawing/2014/main" id="{7D360C87-DA57-4F00-96B5-35199AD11657}"/>
                </a:ext>
              </a:extLst>
            </p:cNvPr>
            <p:cNvSpPr/>
            <p:nvPr/>
          </p:nvSpPr>
          <p:spPr>
            <a:xfrm>
              <a:off x="10800556"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FFA100"/>
            </a:solidFill>
          </p:spPr>
          <p:txBody>
            <a:bodyPr wrap="square" lIns="0" tIns="0" rIns="0" bIns="0" rtlCol="0"/>
            <a:lstStyle/>
            <a:p>
              <a:endParaRPr dirty="0"/>
            </a:p>
          </p:txBody>
        </p:sp>
      </p:grpSp>
      <p:sp>
        <p:nvSpPr>
          <p:cNvPr id="26" name="Subtitle 2">
            <a:extLst>
              <a:ext uri="{FF2B5EF4-FFF2-40B4-BE49-F238E27FC236}">
                <a16:creationId xmlns:a16="http://schemas.microsoft.com/office/drawing/2014/main" id="{54037F47-2839-426C-A6B3-5AA4704ACB7A}"/>
              </a:ext>
            </a:extLst>
          </p:cNvPr>
          <p:cNvSpPr txBox="1">
            <a:spLocks/>
          </p:cNvSpPr>
          <p:nvPr/>
        </p:nvSpPr>
        <p:spPr>
          <a:xfrm>
            <a:off x="6573667" y="7362924"/>
            <a:ext cx="6313606" cy="1609452"/>
          </a:xfrm>
          <a:prstGeom prst="rect">
            <a:avLst/>
          </a:prstGeom>
        </p:spPr>
        <p:txBody>
          <a:bodyPr>
            <a:normAutofit/>
          </a:bodyPr>
          <a:lstStyle>
            <a:lvl1pPr marL="356433" indent="-356433" algn="l" defTabSz="1425732" rtl="0" eaLnBrk="1" latinLnBrk="0" hangingPunct="1">
              <a:lnSpc>
                <a:spcPct val="90000"/>
              </a:lnSpc>
              <a:spcBef>
                <a:spcPts val="1559"/>
              </a:spcBef>
              <a:buFont typeface="Arial" panose="020B0604020202020204" pitchFamily="34" charset="0"/>
              <a:buChar char="•"/>
              <a:defRPr sz="4366" kern="1200">
                <a:solidFill>
                  <a:schemeClr val="tx1"/>
                </a:solidFill>
                <a:latin typeface="+mn-lt"/>
                <a:ea typeface="+mn-ea"/>
                <a:cs typeface="+mn-cs"/>
              </a:defRPr>
            </a:lvl1pPr>
            <a:lvl2pPr marL="1069299" indent="-356433" algn="l" defTabSz="1425732" rtl="0" eaLnBrk="1" latinLnBrk="0" hangingPunct="1">
              <a:lnSpc>
                <a:spcPct val="90000"/>
              </a:lnSpc>
              <a:spcBef>
                <a:spcPts val="780"/>
              </a:spcBef>
              <a:buFont typeface="Arial" panose="020B0604020202020204" pitchFamily="34" charset="0"/>
              <a:buChar char="•"/>
              <a:defRPr sz="3742" kern="1200">
                <a:solidFill>
                  <a:schemeClr val="tx1"/>
                </a:solidFill>
                <a:latin typeface="+mn-lt"/>
                <a:ea typeface="+mn-ea"/>
                <a:cs typeface="+mn-cs"/>
              </a:defRPr>
            </a:lvl2pPr>
            <a:lvl3pPr marL="1782166" indent="-356433" algn="l" defTabSz="1425732" rtl="0" eaLnBrk="1" latinLnBrk="0" hangingPunct="1">
              <a:lnSpc>
                <a:spcPct val="90000"/>
              </a:lnSpc>
              <a:spcBef>
                <a:spcPts val="780"/>
              </a:spcBef>
              <a:buFont typeface="Arial" panose="020B0604020202020204" pitchFamily="34" charset="0"/>
              <a:buChar char="•"/>
              <a:defRPr sz="3118" kern="1200">
                <a:solidFill>
                  <a:schemeClr val="tx1"/>
                </a:solidFill>
                <a:latin typeface="+mn-lt"/>
                <a:ea typeface="+mn-ea"/>
                <a:cs typeface="+mn-cs"/>
              </a:defRPr>
            </a:lvl3pPr>
            <a:lvl4pPr marL="2495032" indent="-356433" algn="l" defTabSz="1425732" rtl="0" eaLnBrk="1" latinLnBrk="0" hangingPunct="1">
              <a:lnSpc>
                <a:spcPct val="90000"/>
              </a:lnSpc>
              <a:spcBef>
                <a:spcPts val="780"/>
              </a:spcBef>
              <a:buFont typeface="Arial" panose="020B0604020202020204" pitchFamily="34" charset="0"/>
              <a:buChar char="•"/>
              <a:defRPr sz="2807" kern="1200">
                <a:solidFill>
                  <a:schemeClr val="tx1"/>
                </a:solidFill>
                <a:latin typeface="+mn-lt"/>
                <a:ea typeface="+mn-ea"/>
                <a:cs typeface="+mn-cs"/>
              </a:defRPr>
            </a:lvl4pPr>
            <a:lvl5pPr marL="3207898" indent="-356433" algn="l" defTabSz="1425732" rtl="0" eaLnBrk="1" latinLnBrk="0" hangingPunct="1">
              <a:lnSpc>
                <a:spcPct val="90000"/>
              </a:lnSpc>
              <a:spcBef>
                <a:spcPts val="780"/>
              </a:spcBef>
              <a:buFont typeface="Arial" panose="020B0604020202020204" pitchFamily="34" charset="0"/>
              <a:buChar char="•"/>
              <a:defRPr sz="2807" kern="1200">
                <a:solidFill>
                  <a:schemeClr val="tx1"/>
                </a:solidFill>
                <a:latin typeface="+mn-lt"/>
                <a:ea typeface="+mn-ea"/>
                <a:cs typeface="+mn-cs"/>
              </a:defRPr>
            </a:lvl5pPr>
            <a:lvl6pPr marL="3920764" indent="-356433" algn="l" defTabSz="1425732" rtl="0" eaLnBrk="1" latinLnBrk="0" hangingPunct="1">
              <a:lnSpc>
                <a:spcPct val="90000"/>
              </a:lnSpc>
              <a:spcBef>
                <a:spcPts val="780"/>
              </a:spcBef>
              <a:buFont typeface="Arial" panose="020B0604020202020204" pitchFamily="34" charset="0"/>
              <a:buChar char="•"/>
              <a:defRPr sz="2807" kern="1200">
                <a:solidFill>
                  <a:schemeClr val="tx1"/>
                </a:solidFill>
                <a:latin typeface="+mn-lt"/>
                <a:ea typeface="+mn-ea"/>
                <a:cs typeface="+mn-cs"/>
              </a:defRPr>
            </a:lvl6pPr>
            <a:lvl7pPr marL="4633631" indent="-356433" algn="l" defTabSz="1425732" rtl="0" eaLnBrk="1" latinLnBrk="0" hangingPunct="1">
              <a:lnSpc>
                <a:spcPct val="90000"/>
              </a:lnSpc>
              <a:spcBef>
                <a:spcPts val="780"/>
              </a:spcBef>
              <a:buFont typeface="Arial" panose="020B0604020202020204" pitchFamily="34" charset="0"/>
              <a:buChar char="•"/>
              <a:defRPr sz="2807" kern="1200">
                <a:solidFill>
                  <a:schemeClr val="tx1"/>
                </a:solidFill>
                <a:latin typeface="+mn-lt"/>
                <a:ea typeface="+mn-ea"/>
                <a:cs typeface="+mn-cs"/>
              </a:defRPr>
            </a:lvl7pPr>
            <a:lvl8pPr marL="5346497" indent="-356433" algn="l" defTabSz="1425732" rtl="0" eaLnBrk="1" latinLnBrk="0" hangingPunct="1">
              <a:lnSpc>
                <a:spcPct val="90000"/>
              </a:lnSpc>
              <a:spcBef>
                <a:spcPts val="780"/>
              </a:spcBef>
              <a:buFont typeface="Arial" panose="020B0604020202020204" pitchFamily="34" charset="0"/>
              <a:buChar char="•"/>
              <a:defRPr sz="2807" kern="1200">
                <a:solidFill>
                  <a:schemeClr val="tx1"/>
                </a:solidFill>
                <a:latin typeface="+mn-lt"/>
                <a:ea typeface="+mn-ea"/>
                <a:cs typeface="+mn-cs"/>
              </a:defRPr>
            </a:lvl8pPr>
            <a:lvl9pPr marL="6059363" indent="-356433" algn="l" defTabSz="1425732" rtl="0" eaLnBrk="1" latinLnBrk="0" hangingPunct="1">
              <a:lnSpc>
                <a:spcPct val="90000"/>
              </a:lnSpc>
              <a:spcBef>
                <a:spcPts val="780"/>
              </a:spcBef>
              <a:buFont typeface="Arial" panose="020B0604020202020204" pitchFamily="34" charset="0"/>
              <a:buChar char="•"/>
              <a:defRPr sz="2807" kern="1200">
                <a:solidFill>
                  <a:schemeClr val="tx1"/>
                </a:solidFill>
                <a:latin typeface="+mn-lt"/>
                <a:ea typeface="+mn-ea"/>
                <a:cs typeface="+mn-cs"/>
              </a:defRPr>
            </a:lvl9pPr>
          </a:lstStyle>
          <a:p>
            <a:pPr marL="0" indent="0" algn="ctr">
              <a:buNone/>
            </a:pPr>
            <a:endParaRPr lang="en-IN" sz="2000" dirty="0">
              <a:latin typeface="Arial Rounded MT Bold" panose="020F0704030504030204" pitchFamily="34" charset="0"/>
            </a:endParaRPr>
          </a:p>
        </p:txBody>
      </p:sp>
      <p:sp>
        <p:nvSpPr>
          <p:cNvPr id="9" name="Slide Number Placeholder 8">
            <a:extLst>
              <a:ext uri="{FF2B5EF4-FFF2-40B4-BE49-F238E27FC236}">
                <a16:creationId xmlns:a16="http://schemas.microsoft.com/office/drawing/2014/main" id="{4AA0A618-D23E-423D-BEBF-32CBD976176D}"/>
              </a:ext>
            </a:extLst>
          </p:cNvPr>
          <p:cNvSpPr>
            <a:spLocks noGrp="1"/>
          </p:cNvSpPr>
          <p:nvPr>
            <p:ph type="sldNum" sz="quarter" idx="12"/>
          </p:nvPr>
        </p:nvSpPr>
        <p:spPr/>
        <p:txBody>
          <a:bodyPr/>
          <a:lstStyle/>
          <a:p>
            <a:fld id="{DCC7CF5C-16A0-4876-B638-15BC6385E45C}" type="slidenum">
              <a:rPr lang="en-IN" smtClean="0"/>
              <a:t>1</a:t>
            </a:fld>
            <a:endParaRPr lang="en-IN"/>
          </a:p>
        </p:txBody>
      </p:sp>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12062731-4BC0-4A92-9669-D96997ECFC49}"/>
                  </a:ext>
                </a:extLst>
              </p14:cNvPr>
              <p14:cNvContentPartPr/>
              <p14:nvPr/>
            </p14:nvContentPartPr>
            <p14:xfrm>
              <a:off x="2659876" y="5525548"/>
              <a:ext cx="360" cy="360"/>
            </p14:xfrm>
          </p:contentPart>
        </mc:Choice>
        <mc:Fallback xmlns="">
          <p:pic>
            <p:nvPicPr>
              <p:cNvPr id="10" name="Ink 9">
                <a:extLst>
                  <a:ext uri="{FF2B5EF4-FFF2-40B4-BE49-F238E27FC236}">
                    <a16:creationId xmlns:a16="http://schemas.microsoft.com/office/drawing/2014/main" id="{12062731-4BC0-4A92-9669-D96997ECFC49}"/>
                  </a:ext>
                </a:extLst>
              </p:cNvPr>
              <p:cNvPicPr/>
              <p:nvPr/>
            </p:nvPicPr>
            <p:blipFill>
              <a:blip r:embed="rId4"/>
              <a:stretch>
                <a:fillRect/>
              </a:stretch>
            </p:blipFill>
            <p:spPr>
              <a:xfrm>
                <a:off x="2650876" y="5516548"/>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1" name="Ink 10">
                <a:extLst>
                  <a:ext uri="{FF2B5EF4-FFF2-40B4-BE49-F238E27FC236}">
                    <a16:creationId xmlns:a16="http://schemas.microsoft.com/office/drawing/2014/main" id="{55A48C76-FFA4-4101-9E8E-33EE91B7C160}"/>
                  </a:ext>
                </a:extLst>
              </p14:cNvPr>
              <p14:cNvContentPartPr/>
              <p14:nvPr/>
            </p14:nvContentPartPr>
            <p14:xfrm>
              <a:off x="3760756" y="5670628"/>
              <a:ext cx="360" cy="360"/>
            </p14:xfrm>
          </p:contentPart>
        </mc:Choice>
        <mc:Fallback xmlns="">
          <p:pic>
            <p:nvPicPr>
              <p:cNvPr id="11" name="Ink 10">
                <a:extLst>
                  <a:ext uri="{FF2B5EF4-FFF2-40B4-BE49-F238E27FC236}">
                    <a16:creationId xmlns:a16="http://schemas.microsoft.com/office/drawing/2014/main" id="{55A48C76-FFA4-4101-9E8E-33EE91B7C160}"/>
                  </a:ext>
                </a:extLst>
              </p:cNvPr>
              <p:cNvPicPr/>
              <p:nvPr/>
            </p:nvPicPr>
            <p:blipFill>
              <a:blip r:embed="rId4"/>
              <a:stretch>
                <a:fillRect/>
              </a:stretch>
            </p:blipFill>
            <p:spPr>
              <a:xfrm>
                <a:off x="3751756" y="5661628"/>
                <a:ext cx="18000" cy="18000"/>
              </a:xfrm>
              <a:prstGeom prst="rect">
                <a:avLst/>
              </a:prstGeom>
            </p:spPr>
          </p:pic>
        </mc:Fallback>
      </mc:AlternateContent>
      <p:sp>
        <p:nvSpPr>
          <p:cNvPr id="20" name="Title 1">
            <a:extLst>
              <a:ext uri="{FF2B5EF4-FFF2-40B4-BE49-F238E27FC236}">
                <a16:creationId xmlns:a16="http://schemas.microsoft.com/office/drawing/2014/main" id="{7DE929CF-2E17-DBAC-7FDB-6EAAC3F16EA4}"/>
              </a:ext>
            </a:extLst>
          </p:cNvPr>
          <p:cNvSpPr>
            <a:spLocks noGrp="1"/>
          </p:cNvSpPr>
          <p:nvPr/>
        </p:nvSpPr>
        <p:spPr>
          <a:xfrm>
            <a:off x="2808413" y="2898428"/>
            <a:ext cx="13540944" cy="5541376"/>
          </a:xfrm>
          <a:prstGeom prst="rect">
            <a:avLst/>
          </a:prstGeom>
        </p:spPr>
        <p:txBody>
          <a:bodyPr bIns="91440" anchor="ctr" anchorCtr="0">
            <a:noAutofit/>
          </a:bodyPr>
          <a:lstStyle>
            <a:lvl1pPr algn="ctr" rtl="0" eaLnBrk="1" latinLnBrk="0" hangingPunct="1">
              <a:spcBef>
                <a:spcPct val="0"/>
              </a:spcBef>
              <a:buNone/>
              <a:defRPr kumimoji="0" lang="en-US" sz="4000" kern="1200" dirty="0">
                <a:solidFill>
                  <a:srgbClr val="FFFFFF"/>
                </a:solidFill>
                <a:latin typeface="+mj-lt"/>
                <a:ea typeface="+mj-ea"/>
                <a:cs typeface="+mj-cs"/>
              </a:defRPr>
            </a:lvl1pPr>
          </a:lstStyle>
          <a:p>
            <a:r>
              <a:rPr lang="en-US" sz="13800" b="1" dirty="0">
                <a:solidFill>
                  <a:schemeClr val="accent1"/>
                </a:solidFill>
                <a:latin typeface="Times New Roman" pitchFamily="18" charset="0"/>
                <a:cs typeface="Times New Roman" pitchFamily="18" charset="0"/>
              </a:rPr>
              <a:t>Tech Sentinel</a:t>
            </a:r>
          </a:p>
          <a:p>
            <a:r>
              <a:rPr lang="en-US" sz="8800" b="1" dirty="0">
                <a:solidFill>
                  <a:schemeClr val="accent1"/>
                </a:solidFill>
                <a:latin typeface="Times New Roman" pitchFamily="18" charset="0"/>
                <a:cs typeface="Times New Roman" pitchFamily="18" charset="0"/>
              </a:rPr>
              <a:t>AI Driven Cyber Defense</a:t>
            </a:r>
            <a:endParaRPr lang="en-US" sz="8800" dirty="0">
              <a:solidFill>
                <a:schemeClr val="accent1"/>
              </a:solidFill>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85E24-14E3-6185-5B61-1490CC0A495E}"/>
              </a:ext>
            </a:extLst>
          </p:cNvPr>
          <p:cNvSpPr>
            <a:spLocks noGrp="1"/>
          </p:cNvSpPr>
          <p:nvPr>
            <p:ph type="title"/>
          </p:nvPr>
        </p:nvSpPr>
        <p:spPr/>
        <p:txBody>
          <a:bodyPr>
            <a:normAutofit/>
          </a:bodyPr>
          <a:lstStyle/>
          <a:p>
            <a:pPr algn="ctr"/>
            <a:r>
              <a:rPr lang="en-US" sz="6600" b="1" dirty="0">
                <a:latin typeface="Bahnschrift SemiCondensed" panose="020B0502040204020203" pitchFamily="34" charset="0"/>
              </a:rPr>
              <a:t>What is the AI Cyber Defense Platform?</a:t>
            </a:r>
            <a:endParaRPr lang="en-IN" sz="6600" b="1" dirty="0">
              <a:latin typeface="Bahnschrift SemiCondensed" panose="020B0502040204020203" pitchFamily="34" charset="0"/>
            </a:endParaRPr>
          </a:p>
        </p:txBody>
      </p:sp>
      <p:sp>
        <p:nvSpPr>
          <p:cNvPr id="3" name="Content Placeholder 2">
            <a:extLst>
              <a:ext uri="{FF2B5EF4-FFF2-40B4-BE49-F238E27FC236}">
                <a16:creationId xmlns:a16="http://schemas.microsoft.com/office/drawing/2014/main" id="{CC78CA37-D77C-D561-C36A-03952012E933}"/>
              </a:ext>
            </a:extLst>
          </p:cNvPr>
          <p:cNvSpPr>
            <a:spLocks noGrp="1"/>
          </p:cNvSpPr>
          <p:nvPr>
            <p:ph idx="1"/>
          </p:nvPr>
        </p:nvSpPr>
        <p:spPr>
          <a:xfrm>
            <a:off x="1306513" y="2250356"/>
            <a:ext cx="16397287" cy="7381007"/>
          </a:xfrm>
        </p:spPr>
        <p:txBody>
          <a:bodyPr>
            <a:normAutofit/>
          </a:bodyPr>
          <a:lstStyle/>
          <a:p>
            <a:r>
              <a:rPr lang="en-US" dirty="0"/>
              <a:t>As cyber threats grow more complex, traditional defense systems fall short.</a:t>
            </a:r>
            <a:br>
              <a:rPr lang="en-US" dirty="0"/>
            </a:br>
            <a:r>
              <a:rPr lang="en-US" b="1" dirty="0"/>
              <a:t>Tech Sentinel</a:t>
            </a:r>
            <a:r>
              <a:rPr lang="en-US" dirty="0"/>
              <a:t> is a unified, AI-powered cybersecurity dashboard that integrates real-time threat detection, intelligent data protection, and secure scanning capabilities — delivering a </a:t>
            </a:r>
            <a:r>
              <a:rPr lang="en-US" b="1" dirty="0"/>
              <a:t>proactive and adaptive security solution</a:t>
            </a:r>
            <a:r>
              <a:rPr lang="en-US" dirty="0"/>
              <a:t>.</a:t>
            </a:r>
          </a:p>
          <a:p>
            <a:pPr>
              <a:buNone/>
            </a:pPr>
            <a:r>
              <a:rPr lang="en-IN" b="1" dirty="0"/>
              <a:t>Key Features</a:t>
            </a:r>
          </a:p>
          <a:p>
            <a:pPr>
              <a:buNone/>
            </a:pPr>
            <a:r>
              <a:rPr lang="en-IN" dirty="0"/>
              <a:t>🔹 </a:t>
            </a:r>
            <a:r>
              <a:rPr lang="en-IN" b="1" dirty="0"/>
              <a:t>SMS Spam Detection: </a:t>
            </a:r>
            <a:r>
              <a:rPr lang="en-IN" sz="2600" dirty="0"/>
              <a:t>Classifies spam and phishing messages using a machine learning pipeline (TF-IDF + ML model).</a:t>
            </a:r>
          </a:p>
          <a:p>
            <a:pPr>
              <a:buNone/>
            </a:pPr>
            <a:r>
              <a:rPr lang="en-IN" dirty="0"/>
              <a:t>🔹 </a:t>
            </a:r>
            <a:r>
              <a:rPr lang="en-IN" b="1" dirty="0"/>
              <a:t>Threat Detection (.</a:t>
            </a:r>
            <a:r>
              <a:rPr lang="en-IN" b="1" dirty="0" err="1"/>
              <a:t>arff</a:t>
            </a:r>
            <a:r>
              <a:rPr lang="en-IN" b="1" dirty="0"/>
              <a:t> Network Logs): </a:t>
            </a:r>
            <a:r>
              <a:rPr lang="en-IN" sz="2400" dirty="0" err="1"/>
              <a:t>Analyzes</a:t>
            </a:r>
            <a:r>
              <a:rPr lang="en-IN" sz="2400" dirty="0"/>
              <a:t> intrusion datasets using trained classifiers to flag attacks and anomalies.</a:t>
            </a:r>
          </a:p>
          <a:p>
            <a:pPr>
              <a:buNone/>
            </a:pPr>
            <a:r>
              <a:rPr lang="en-IN" dirty="0"/>
              <a:t>🔹 </a:t>
            </a:r>
            <a:r>
              <a:rPr lang="en-IN" b="1" dirty="0"/>
              <a:t>Image Steganography: </a:t>
            </a:r>
            <a:r>
              <a:rPr lang="en-IN" sz="2400" dirty="0"/>
              <a:t>Encrypts and hides sensitive messages inside images with password protection for covert communication.</a:t>
            </a:r>
          </a:p>
          <a:p>
            <a:pPr>
              <a:buNone/>
            </a:pPr>
            <a:r>
              <a:rPr lang="en-IN" dirty="0"/>
              <a:t>🔹 </a:t>
            </a:r>
            <a:r>
              <a:rPr lang="en-IN" b="1" dirty="0"/>
              <a:t>Live URL &amp; File Scanning</a:t>
            </a:r>
            <a:r>
              <a:rPr lang="en-IN" sz="2400" b="1" dirty="0"/>
              <a:t>: </a:t>
            </a:r>
            <a:r>
              <a:rPr lang="en-IN" sz="2400" dirty="0"/>
              <a:t>Leverages global threat intelligence to detect malicious content in real-time.</a:t>
            </a:r>
          </a:p>
          <a:p>
            <a:pPr>
              <a:buNone/>
            </a:pPr>
            <a:r>
              <a:rPr lang="en-IN" dirty="0"/>
              <a:t>🔹 </a:t>
            </a:r>
            <a:r>
              <a:rPr lang="en-IN" b="1" dirty="0"/>
              <a:t>PE File Scanner: </a:t>
            </a:r>
            <a:r>
              <a:rPr lang="en-IN" sz="2400" dirty="0"/>
              <a:t>Predicts malicious or benign nature of .exe/.</a:t>
            </a:r>
            <a:r>
              <a:rPr lang="en-IN" sz="2400" dirty="0" err="1"/>
              <a:t>dll</a:t>
            </a:r>
            <a:r>
              <a:rPr lang="en-IN" sz="2400" dirty="0"/>
              <a:t> files using static feature analysis.</a:t>
            </a:r>
          </a:p>
          <a:p>
            <a:pPr>
              <a:buNone/>
            </a:pPr>
            <a:r>
              <a:rPr lang="en-IN" dirty="0"/>
              <a:t>🔹 </a:t>
            </a:r>
            <a:r>
              <a:rPr lang="en-IN" b="1" dirty="0"/>
              <a:t>File Hash Checker: </a:t>
            </a:r>
            <a:r>
              <a:rPr lang="en-IN" sz="2400" dirty="0"/>
              <a:t>Matches file hashes against the </a:t>
            </a:r>
            <a:r>
              <a:rPr lang="en-IN" sz="2400" dirty="0" err="1"/>
              <a:t>VirusTotal</a:t>
            </a:r>
            <a:r>
              <a:rPr lang="en-IN" sz="2400" dirty="0"/>
              <a:t> database for known malware signatures.</a:t>
            </a:r>
          </a:p>
          <a:p>
            <a:pPr>
              <a:buNone/>
            </a:pPr>
            <a:r>
              <a:rPr lang="en-IN" dirty="0"/>
              <a:t>🔹 </a:t>
            </a:r>
            <a:r>
              <a:rPr lang="en-IN" b="1" dirty="0"/>
              <a:t>Port Scanner: </a:t>
            </a:r>
            <a:r>
              <a:rPr lang="en-IN" sz="2400" dirty="0"/>
              <a:t>Identifies open/closed ports on a target host — useful for basic vulnerability assessment.</a:t>
            </a:r>
          </a:p>
          <a:p>
            <a:pPr>
              <a:buNone/>
            </a:pPr>
            <a:r>
              <a:rPr lang="en-IN" dirty="0"/>
              <a:t>🔹 </a:t>
            </a:r>
            <a:r>
              <a:rPr lang="en-IN" b="1" dirty="0"/>
              <a:t>PCAP Analyzer: </a:t>
            </a:r>
            <a:r>
              <a:rPr lang="en-IN" sz="2400" dirty="0"/>
              <a:t>Extracts, displays, and summarizes packet-level network data for traffic analysis.</a:t>
            </a:r>
          </a:p>
          <a:p>
            <a:pPr>
              <a:buNone/>
            </a:pPr>
            <a:endParaRPr lang="en-IN" dirty="0"/>
          </a:p>
        </p:txBody>
      </p:sp>
      <p:sp>
        <p:nvSpPr>
          <p:cNvPr id="5" name="Slide Number Placeholder 4">
            <a:extLst>
              <a:ext uri="{FF2B5EF4-FFF2-40B4-BE49-F238E27FC236}">
                <a16:creationId xmlns:a16="http://schemas.microsoft.com/office/drawing/2014/main" id="{C479946E-D99D-EB69-A0DD-87AED1E8B452}"/>
              </a:ext>
            </a:extLst>
          </p:cNvPr>
          <p:cNvSpPr>
            <a:spLocks noGrp="1"/>
          </p:cNvSpPr>
          <p:nvPr>
            <p:ph type="sldNum" sz="quarter" idx="12"/>
          </p:nvPr>
        </p:nvSpPr>
        <p:spPr/>
        <p:txBody>
          <a:bodyPr/>
          <a:lstStyle/>
          <a:p>
            <a:fld id="{DCC7CF5C-16A0-4876-B638-15BC6385E45C}" type="slidenum">
              <a:rPr lang="en-IN" smtClean="0"/>
              <a:t>2</a:t>
            </a:fld>
            <a:endParaRPr lang="en-IN"/>
          </a:p>
        </p:txBody>
      </p:sp>
      <p:grpSp>
        <p:nvGrpSpPr>
          <p:cNvPr id="6" name="Group 5">
            <a:extLst>
              <a:ext uri="{FF2B5EF4-FFF2-40B4-BE49-F238E27FC236}">
                <a16:creationId xmlns:a16="http://schemas.microsoft.com/office/drawing/2014/main" id="{E6787CB3-1BE8-C362-A6E4-F2193EEAF34D}"/>
              </a:ext>
            </a:extLst>
          </p:cNvPr>
          <p:cNvGrpSpPr/>
          <p:nvPr/>
        </p:nvGrpSpPr>
        <p:grpSpPr>
          <a:xfrm>
            <a:off x="0" y="0"/>
            <a:ext cx="19010313" cy="588943"/>
            <a:chOff x="-324644" y="2222500"/>
            <a:chExt cx="22261685" cy="1302327"/>
          </a:xfrm>
        </p:grpSpPr>
        <p:sp>
          <p:nvSpPr>
            <p:cNvPr id="7" name="object 2">
              <a:extLst>
                <a:ext uri="{FF2B5EF4-FFF2-40B4-BE49-F238E27FC236}">
                  <a16:creationId xmlns:a16="http://schemas.microsoft.com/office/drawing/2014/main" id="{26C1955F-29DC-F47D-292F-C6623328FB96}"/>
                </a:ext>
              </a:extLst>
            </p:cNvPr>
            <p:cNvSpPr/>
            <p:nvPr/>
          </p:nvSpPr>
          <p:spPr>
            <a:xfrm>
              <a:off x="-324644"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009EF3"/>
            </a:solidFill>
          </p:spPr>
          <p:txBody>
            <a:bodyPr wrap="square" lIns="0" tIns="0" rIns="0" bIns="0" rtlCol="0"/>
            <a:lstStyle/>
            <a:p>
              <a:endParaRPr dirty="0"/>
            </a:p>
          </p:txBody>
        </p:sp>
        <p:sp>
          <p:nvSpPr>
            <p:cNvPr id="8" name="object 3">
              <a:extLst>
                <a:ext uri="{FF2B5EF4-FFF2-40B4-BE49-F238E27FC236}">
                  <a16:creationId xmlns:a16="http://schemas.microsoft.com/office/drawing/2014/main" id="{3BD1E2D7-88FD-4097-8113-A60D9AC20BBF}"/>
                </a:ext>
              </a:extLst>
            </p:cNvPr>
            <p:cNvSpPr/>
            <p:nvPr/>
          </p:nvSpPr>
          <p:spPr>
            <a:xfrm>
              <a:off x="16363156" y="2222500"/>
              <a:ext cx="5573885" cy="1302327"/>
            </a:xfrm>
            <a:custGeom>
              <a:avLst/>
              <a:gdLst/>
              <a:ahLst/>
              <a:cxnLst/>
              <a:rect l="l" t="t" r="r" b="b"/>
              <a:pathLst>
                <a:path w="1883409" h="440055">
                  <a:moveTo>
                    <a:pt x="0" y="0"/>
                  </a:moveTo>
                  <a:lnTo>
                    <a:pt x="0" y="439737"/>
                  </a:lnTo>
                  <a:lnTo>
                    <a:pt x="1883155" y="439737"/>
                  </a:lnTo>
                  <a:lnTo>
                    <a:pt x="1883155" y="0"/>
                  </a:lnTo>
                  <a:lnTo>
                    <a:pt x="0" y="0"/>
                  </a:lnTo>
                  <a:close/>
                </a:path>
              </a:pathLst>
            </a:custGeom>
            <a:solidFill>
              <a:srgbClr val="FF8200"/>
            </a:solidFill>
          </p:spPr>
          <p:txBody>
            <a:bodyPr wrap="square" lIns="0" tIns="0" rIns="0" bIns="0" rtlCol="0"/>
            <a:lstStyle/>
            <a:p>
              <a:endParaRPr dirty="0"/>
            </a:p>
          </p:txBody>
        </p:sp>
        <p:sp>
          <p:nvSpPr>
            <p:cNvPr id="9" name="object 2">
              <a:extLst>
                <a:ext uri="{FF2B5EF4-FFF2-40B4-BE49-F238E27FC236}">
                  <a16:creationId xmlns:a16="http://schemas.microsoft.com/office/drawing/2014/main" id="{3C74B7B1-9411-E69C-7037-E2D5910DA1DC}"/>
                </a:ext>
              </a:extLst>
            </p:cNvPr>
            <p:cNvSpPr/>
            <p:nvPr/>
          </p:nvSpPr>
          <p:spPr>
            <a:xfrm>
              <a:off x="5237956"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FFBF00"/>
            </a:solidFill>
          </p:spPr>
          <p:txBody>
            <a:bodyPr wrap="square" lIns="0" tIns="0" rIns="0" bIns="0" rtlCol="0"/>
            <a:lstStyle/>
            <a:p>
              <a:endParaRPr dirty="0"/>
            </a:p>
          </p:txBody>
        </p:sp>
        <p:sp>
          <p:nvSpPr>
            <p:cNvPr id="10" name="object 2">
              <a:extLst>
                <a:ext uri="{FF2B5EF4-FFF2-40B4-BE49-F238E27FC236}">
                  <a16:creationId xmlns:a16="http://schemas.microsoft.com/office/drawing/2014/main" id="{64B46557-0A33-2834-CCDE-0F413FE1E489}"/>
                </a:ext>
              </a:extLst>
            </p:cNvPr>
            <p:cNvSpPr/>
            <p:nvPr/>
          </p:nvSpPr>
          <p:spPr>
            <a:xfrm>
              <a:off x="10800556"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FFA100"/>
            </a:solidFill>
          </p:spPr>
          <p:txBody>
            <a:bodyPr wrap="square" lIns="0" tIns="0" rIns="0" bIns="0" rtlCol="0"/>
            <a:lstStyle/>
            <a:p>
              <a:endParaRPr dirty="0"/>
            </a:p>
          </p:txBody>
        </p:sp>
      </p:grpSp>
    </p:spTree>
    <p:extLst>
      <p:ext uri="{BB962C8B-B14F-4D97-AF65-F5344CB8AC3E}">
        <p14:creationId xmlns:p14="http://schemas.microsoft.com/office/powerpoint/2010/main" val="39175225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A1FFF73-71BE-3354-2594-F0A833308CA6}"/>
              </a:ext>
            </a:extLst>
          </p:cNvPr>
          <p:cNvSpPr>
            <a:spLocks noGrp="1"/>
          </p:cNvSpPr>
          <p:nvPr>
            <p:ph type="sldNum" sz="quarter" idx="12"/>
          </p:nvPr>
        </p:nvSpPr>
        <p:spPr/>
        <p:txBody>
          <a:bodyPr/>
          <a:lstStyle/>
          <a:p>
            <a:fld id="{DCC7CF5C-16A0-4876-B638-15BC6385E45C}" type="slidenum">
              <a:rPr lang="en-IN" smtClean="0"/>
              <a:t>3</a:t>
            </a:fld>
            <a:endParaRPr lang="en-IN"/>
          </a:p>
        </p:txBody>
      </p:sp>
      <p:sp>
        <p:nvSpPr>
          <p:cNvPr id="4" name="Title 3">
            <a:extLst>
              <a:ext uri="{FF2B5EF4-FFF2-40B4-BE49-F238E27FC236}">
                <a16:creationId xmlns:a16="http://schemas.microsoft.com/office/drawing/2014/main" id="{0C7E484B-7F1F-949A-0E92-AFA714090FB4}"/>
              </a:ext>
            </a:extLst>
          </p:cNvPr>
          <p:cNvSpPr>
            <a:spLocks noGrp="1"/>
          </p:cNvSpPr>
          <p:nvPr>
            <p:ph type="title"/>
          </p:nvPr>
        </p:nvSpPr>
        <p:spPr>
          <a:xfrm>
            <a:off x="1306513" y="868342"/>
            <a:ext cx="16397287" cy="2534141"/>
          </a:xfrm>
        </p:spPr>
        <p:txBody>
          <a:bodyPr/>
          <a:lstStyle/>
          <a:p>
            <a:pPr algn="ctr"/>
            <a:r>
              <a:rPr lang="en-US" sz="6600" b="1" dirty="0">
                <a:latin typeface="Bahnschrift SemiBold Condensed" panose="020B0502040204020203" pitchFamily="34" charset="0"/>
              </a:rPr>
              <a:t>Problem Statement</a:t>
            </a:r>
            <a:br>
              <a:rPr lang="en-US" b="1" dirty="0">
                <a:latin typeface="Bahnschrift SemiBold Condensed" panose="020B0502040204020203" pitchFamily="34" charset="0"/>
              </a:rPr>
            </a:br>
            <a:endParaRPr lang="en-IN" dirty="0">
              <a:latin typeface="Bahnschrift SemiBold Condensed" panose="020B0502040204020203" pitchFamily="34" charset="0"/>
            </a:endParaRPr>
          </a:p>
        </p:txBody>
      </p:sp>
      <p:sp>
        <p:nvSpPr>
          <p:cNvPr id="5" name="Content Placeholder 4">
            <a:extLst>
              <a:ext uri="{FF2B5EF4-FFF2-40B4-BE49-F238E27FC236}">
                <a16:creationId xmlns:a16="http://schemas.microsoft.com/office/drawing/2014/main" id="{59D470C6-0FD7-7CF3-57D2-3A15976AD1DA}"/>
              </a:ext>
            </a:extLst>
          </p:cNvPr>
          <p:cNvSpPr>
            <a:spLocks noGrp="1"/>
          </p:cNvSpPr>
          <p:nvPr>
            <p:ph idx="1"/>
          </p:nvPr>
        </p:nvSpPr>
        <p:spPr>
          <a:xfrm>
            <a:off x="1306513" y="2898428"/>
            <a:ext cx="17055627" cy="7272807"/>
          </a:xfrm>
        </p:spPr>
        <p:txBody>
          <a:bodyPr>
            <a:normAutofit/>
          </a:bodyPr>
          <a:lstStyle/>
          <a:p>
            <a:pPr>
              <a:lnSpc>
                <a:spcPct val="100000"/>
              </a:lnSpc>
              <a:buNone/>
            </a:pPr>
            <a:r>
              <a:rPr lang="en-US" dirty="0"/>
              <a:t>In today’s hyper-connected world, individuals and organizations face an alarming rise in sophisticated cyber threats — from phishing and malware to SMS-based scams and data breaches. Traditional security systems often lack the intelligence and adaptability required to counter these evolving threats effectively.</a:t>
            </a:r>
          </a:p>
          <a:p>
            <a:pPr>
              <a:lnSpc>
                <a:spcPct val="100000"/>
              </a:lnSpc>
              <a:buNone/>
            </a:pPr>
            <a:endParaRPr lang="en-US" dirty="0"/>
          </a:p>
          <a:p>
            <a:pPr marL="0" indent="0">
              <a:buNone/>
            </a:pPr>
            <a:r>
              <a:rPr lang="en-IN" b="1" dirty="0"/>
              <a:t>Key Challenges Addressed by Tech Sentinel</a:t>
            </a:r>
          </a:p>
          <a:p>
            <a:pPr marL="0" indent="0">
              <a:buNone/>
            </a:pPr>
            <a:endParaRPr lang="en-IN" b="1" dirty="0"/>
          </a:p>
          <a:p>
            <a:pPr marL="0" indent="0">
              <a:buNone/>
            </a:pPr>
            <a:r>
              <a:rPr lang="en-IN" dirty="0"/>
              <a:t>🔴 </a:t>
            </a:r>
            <a:r>
              <a:rPr lang="en-IN" b="1" dirty="0"/>
              <a:t>SMS-Based Phishing &amp; Spam Attacks</a:t>
            </a:r>
            <a:br>
              <a:rPr lang="en-IN" dirty="0"/>
            </a:br>
            <a:r>
              <a:rPr lang="en-IN" dirty="0"/>
              <a:t>Malicious messages manipulate users into disclosing personal or financial data.</a:t>
            </a:r>
          </a:p>
          <a:p>
            <a:pPr marL="0" indent="0">
              <a:buNone/>
            </a:pPr>
            <a:r>
              <a:rPr lang="en-IN" dirty="0"/>
              <a:t>🔴 </a:t>
            </a:r>
            <a:r>
              <a:rPr lang="en-IN" b="1" dirty="0"/>
              <a:t>Inadequate Threat &amp; Malware Detection</a:t>
            </a:r>
            <a:br>
              <a:rPr lang="en-IN" dirty="0"/>
            </a:br>
            <a:r>
              <a:rPr lang="en-IN" dirty="0"/>
              <a:t>Legacy tools struggle to detect new, fast-evolving attack patterns.</a:t>
            </a:r>
          </a:p>
          <a:p>
            <a:pPr marL="0" indent="0">
              <a:buNone/>
            </a:pPr>
            <a:r>
              <a:rPr lang="en-IN" dirty="0"/>
              <a:t>🔴 </a:t>
            </a:r>
            <a:r>
              <a:rPr lang="en-IN" b="1" dirty="0"/>
              <a:t>Data Privacy &amp; Secure Transmission</a:t>
            </a:r>
            <a:br>
              <a:rPr lang="en-IN" dirty="0"/>
            </a:br>
            <a:r>
              <a:rPr lang="en-IN" dirty="0"/>
              <a:t>Sensitive information lacks safe channels for covert storage and communication.</a:t>
            </a:r>
          </a:p>
          <a:p>
            <a:pPr marL="0" indent="0">
              <a:buNone/>
            </a:pPr>
            <a:endParaRPr lang="en-IN" dirty="0"/>
          </a:p>
        </p:txBody>
      </p:sp>
      <p:grpSp>
        <p:nvGrpSpPr>
          <p:cNvPr id="6" name="Group 5">
            <a:extLst>
              <a:ext uri="{FF2B5EF4-FFF2-40B4-BE49-F238E27FC236}">
                <a16:creationId xmlns:a16="http://schemas.microsoft.com/office/drawing/2014/main" id="{C8147C5C-026B-81E0-8EE2-C7F6C46C1630}"/>
              </a:ext>
            </a:extLst>
          </p:cNvPr>
          <p:cNvGrpSpPr/>
          <p:nvPr/>
        </p:nvGrpSpPr>
        <p:grpSpPr>
          <a:xfrm>
            <a:off x="0" y="0"/>
            <a:ext cx="19010313" cy="588943"/>
            <a:chOff x="-324644" y="2222500"/>
            <a:chExt cx="22261685" cy="1302327"/>
          </a:xfrm>
        </p:grpSpPr>
        <p:sp>
          <p:nvSpPr>
            <p:cNvPr id="7" name="object 2">
              <a:extLst>
                <a:ext uri="{FF2B5EF4-FFF2-40B4-BE49-F238E27FC236}">
                  <a16:creationId xmlns:a16="http://schemas.microsoft.com/office/drawing/2014/main" id="{B73B0082-C7D7-2C9A-ED5B-66ED7246F0A0}"/>
                </a:ext>
              </a:extLst>
            </p:cNvPr>
            <p:cNvSpPr/>
            <p:nvPr/>
          </p:nvSpPr>
          <p:spPr>
            <a:xfrm>
              <a:off x="-324644"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009EF3"/>
            </a:solidFill>
          </p:spPr>
          <p:txBody>
            <a:bodyPr wrap="square" lIns="0" tIns="0" rIns="0" bIns="0" rtlCol="0"/>
            <a:lstStyle/>
            <a:p>
              <a:endParaRPr dirty="0"/>
            </a:p>
          </p:txBody>
        </p:sp>
        <p:sp>
          <p:nvSpPr>
            <p:cNvPr id="8" name="object 3">
              <a:extLst>
                <a:ext uri="{FF2B5EF4-FFF2-40B4-BE49-F238E27FC236}">
                  <a16:creationId xmlns:a16="http://schemas.microsoft.com/office/drawing/2014/main" id="{AA57F0B7-A163-A3CB-D9BC-F90FBC94F447}"/>
                </a:ext>
              </a:extLst>
            </p:cNvPr>
            <p:cNvSpPr/>
            <p:nvPr/>
          </p:nvSpPr>
          <p:spPr>
            <a:xfrm>
              <a:off x="16363156" y="2222500"/>
              <a:ext cx="5573885" cy="1302327"/>
            </a:xfrm>
            <a:custGeom>
              <a:avLst/>
              <a:gdLst/>
              <a:ahLst/>
              <a:cxnLst/>
              <a:rect l="l" t="t" r="r" b="b"/>
              <a:pathLst>
                <a:path w="1883409" h="440055">
                  <a:moveTo>
                    <a:pt x="0" y="0"/>
                  </a:moveTo>
                  <a:lnTo>
                    <a:pt x="0" y="439737"/>
                  </a:lnTo>
                  <a:lnTo>
                    <a:pt x="1883155" y="439737"/>
                  </a:lnTo>
                  <a:lnTo>
                    <a:pt x="1883155" y="0"/>
                  </a:lnTo>
                  <a:lnTo>
                    <a:pt x="0" y="0"/>
                  </a:lnTo>
                  <a:close/>
                </a:path>
              </a:pathLst>
            </a:custGeom>
            <a:solidFill>
              <a:srgbClr val="FF8200"/>
            </a:solidFill>
          </p:spPr>
          <p:txBody>
            <a:bodyPr wrap="square" lIns="0" tIns="0" rIns="0" bIns="0" rtlCol="0"/>
            <a:lstStyle/>
            <a:p>
              <a:endParaRPr dirty="0"/>
            </a:p>
          </p:txBody>
        </p:sp>
        <p:sp>
          <p:nvSpPr>
            <p:cNvPr id="9" name="object 2">
              <a:extLst>
                <a:ext uri="{FF2B5EF4-FFF2-40B4-BE49-F238E27FC236}">
                  <a16:creationId xmlns:a16="http://schemas.microsoft.com/office/drawing/2014/main" id="{3B4095ED-5E96-A59B-72D3-3BEA486C3CEE}"/>
                </a:ext>
              </a:extLst>
            </p:cNvPr>
            <p:cNvSpPr/>
            <p:nvPr/>
          </p:nvSpPr>
          <p:spPr>
            <a:xfrm>
              <a:off x="5237956"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FFBF00"/>
            </a:solidFill>
          </p:spPr>
          <p:txBody>
            <a:bodyPr wrap="square" lIns="0" tIns="0" rIns="0" bIns="0" rtlCol="0"/>
            <a:lstStyle/>
            <a:p>
              <a:endParaRPr dirty="0"/>
            </a:p>
          </p:txBody>
        </p:sp>
        <p:sp>
          <p:nvSpPr>
            <p:cNvPr id="10" name="object 2">
              <a:extLst>
                <a:ext uri="{FF2B5EF4-FFF2-40B4-BE49-F238E27FC236}">
                  <a16:creationId xmlns:a16="http://schemas.microsoft.com/office/drawing/2014/main" id="{BF8F9236-9DB9-39D5-43FC-54BC96A25DAD}"/>
                </a:ext>
              </a:extLst>
            </p:cNvPr>
            <p:cNvSpPr/>
            <p:nvPr/>
          </p:nvSpPr>
          <p:spPr>
            <a:xfrm>
              <a:off x="10800556"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FFA100"/>
            </a:solidFill>
          </p:spPr>
          <p:txBody>
            <a:bodyPr wrap="square" lIns="0" tIns="0" rIns="0" bIns="0" rtlCol="0"/>
            <a:lstStyle/>
            <a:p>
              <a:endParaRPr dirty="0"/>
            </a:p>
          </p:txBody>
        </p:sp>
      </p:grpSp>
    </p:spTree>
    <p:extLst>
      <p:ext uri="{BB962C8B-B14F-4D97-AF65-F5344CB8AC3E}">
        <p14:creationId xmlns:p14="http://schemas.microsoft.com/office/powerpoint/2010/main" val="30788164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35D56F-D16B-62C0-3B0E-677C0292C29A}"/>
              </a:ext>
            </a:extLst>
          </p:cNvPr>
          <p:cNvSpPr>
            <a:spLocks noGrp="1"/>
          </p:cNvSpPr>
          <p:nvPr>
            <p:ph type="dt" sz="half" idx="10"/>
          </p:nvPr>
        </p:nvSpPr>
        <p:spPr/>
        <p:txBody>
          <a:bodyPr/>
          <a:lstStyle/>
          <a:p>
            <a:fld id="{EA8A1AFC-9F3B-438B-B10C-E9A9073FAD5F}" type="datetime1">
              <a:rPr lang="en-IN" smtClean="0"/>
              <a:t>28-10-2025</a:t>
            </a:fld>
            <a:endParaRPr lang="en-IN"/>
          </a:p>
        </p:txBody>
      </p:sp>
      <p:sp>
        <p:nvSpPr>
          <p:cNvPr id="3" name="Slide Number Placeholder 2">
            <a:extLst>
              <a:ext uri="{FF2B5EF4-FFF2-40B4-BE49-F238E27FC236}">
                <a16:creationId xmlns:a16="http://schemas.microsoft.com/office/drawing/2014/main" id="{E03BACB2-6EE2-42A4-D922-662B082A0B53}"/>
              </a:ext>
            </a:extLst>
          </p:cNvPr>
          <p:cNvSpPr>
            <a:spLocks noGrp="1"/>
          </p:cNvSpPr>
          <p:nvPr>
            <p:ph type="sldNum" sz="quarter" idx="12"/>
          </p:nvPr>
        </p:nvSpPr>
        <p:spPr/>
        <p:txBody>
          <a:bodyPr/>
          <a:lstStyle/>
          <a:p>
            <a:fld id="{DCC7CF5C-16A0-4876-B638-15BC6385E45C}" type="slidenum">
              <a:rPr lang="en-IN" smtClean="0"/>
              <a:t>4</a:t>
            </a:fld>
            <a:endParaRPr lang="en-IN"/>
          </a:p>
        </p:txBody>
      </p:sp>
      <p:sp>
        <p:nvSpPr>
          <p:cNvPr id="4" name="Title 3">
            <a:extLst>
              <a:ext uri="{FF2B5EF4-FFF2-40B4-BE49-F238E27FC236}">
                <a16:creationId xmlns:a16="http://schemas.microsoft.com/office/drawing/2014/main" id="{18996AB1-FE3C-EE9D-9875-3DB752F42A4D}"/>
              </a:ext>
            </a:extLst>
          </p:cNvPr>
          <p:cNvSpPr>
            <a:spLocks noGrp="1"/>
          </p:cNvSpPr>
          <p:nvPr>
            <p:ph type="title"/>
          </p:nvPr>
        </p:nvSpPr>
        <p:spPr/>
        <p:txBody>
          <a:bodyPr/>
          <a:lstStyle/>
          <a:p>
            <a:pPr algn="ctr"/>
            <a:r>
              <a:rPr lang="en-US" sz="6600" b="1" dirty="0">
                <a:latin typeface="Bahnschrift SemiCondensed" panose="020B0502040204020203" pitchFamily="34" charset="0"/>
              </a:rPr>
              <a:t>Requirements Engineering </a:t>
            </a:r>
            <a:br>
              <a:rPr lang="en-US" sz="4400" dirty="0"/>
            </a:br>
            <a:endParaRPr lang="en-IN" dirty="0"/>
          </a:p>
        </p:txBody>
      </p:sp>
      <p:sp>
        <p:nvSpPr>
          <p:cNvPr id="25" name="Content Placeholder 24">
            <a:extLst>
              <a:ext uri="{FF2B5EF4-FFF2-40B4-BE49-F238E27FC236}">
                <a16:creationId xmlns:a16="http://schemas.microsoft.com/office/drawing/2014/main" id="{9777B11F-AD10-300D-85ED-C779D851393C}"/>
              </a:ext>
            </a:extLst>
          </p:cNvPr>
          <p:cNvSpPr>
            <a:spLocks noGrp="1"/>
          </p:cNvSpPr>
          <p:nvPr>
            <p:ph idx="1"/>
          </p:nvPr>
        </p:nvSpPr>
        <p:spPr>
          <a:xfrm>
            <a:off x="1306513" y="2846388"/>
            <a:ext cx="7766595" cy="6784975"/>
          </a:xfrm>
        </p:spPr>
        <p:txBody>
          <a:bodyPr>
            <a:normAutofit/>
          </a:bodyPr>
          <a:lstStyle/>
          <a:p>
            <a:pPr marL="0" indent="0">
              <a:buNone/>
            </a:pPr>
            <a:r>
              <a:rPr lang="en-IN" b="1" dirty="0"/>
              <a:t>✅ Functional Requirements</a:t>
            </a:r>
          </a:p>
          <a:p>
            <a:r>
              <a:rPr lang="en-IN" dirty="0"/>
              <a:t>User Login &amp; Authentication</a:t>
            </a:r>
          </a:p>
          <a:p>
            <a:r>
              <a:rPr lang="en-IN" dirty="0"/>
              <a:t>SMS Spam Detection (AI Models)</a:t>
            </a:r>
          </a:p>
          <a:p>
            <a:r>
              <a:rPr lang="en-IN" dirty="0"/>
              <a:t>Threat Detection from ARFF Files</a:t>
            </a:r>
          </a:p>
          <a:p>
            <a:r>
              <a:rPr lang="en-IN" dirty="0"/>
              <a:t>PE File Malware Classification</a:t>
            </a:r>
          </a:p>
          <a:p>
            <a:r>
              <a:rPr lang="en-IN" dirty="0"/>
              <a:t>Image Steganography (Encryption &amp; Decryption)</a:t>
            </a:r>
          </a:p>
          <a:p>
            <a:r>
              <a:rPr lang="en-IN" dirty="0"/>
              <a:t>Live URL &amp; File Scanning (</a:t>
            </a:r>
            <a:r>
              <a:rPr lang="en-IN" dirty="0" err="1"/>
              <a:t>VirusTotal</a:t>
            </a:r>
            <a:r>
              <a:rPr lang="en-IN" dirty="0"/>
              <a:t>)</a:t>
            </a:r>
          </a:p>
          <a:p>
            <a:r>
              <a:rPr lang="en-IN" dirty="0"/>
              <a:t>File Hash Checker</a:t>
            </a:r>
          </a:p>
          <a:p>
            <a:r>
              <a:rPr lang="en-IN" dirty="0"/>
              <a:t>PCAP Packet Analyzer</a:t>
            </a:r>
          </a:p>
          <a:p>
            <a:r>
              <a:rPr lang="en-IN" dirty="0"/>
              <a:t>Port Scanning</a:t>
            </a:r>
          </a:p>
          <a:p>
            <a:pPr marL="0" indent="0">
              <a:buNone/>
            </a:pPr>
            <a:endParaRPr lang="en-IN" dirty="0"/>
          </a:p>
        </p:txBody>
      </p:sp>
      <p:sp>
        <p:nvSpPr>
          <p:cNvPr id="27" name="TextBox 26">
            <a:extLst>
              <a:ext uri="{FF2B5EF4-FFF2-40B4-BE49-F238E27FC236}">
                <a16:creationId xmlns:a16="http://schemas.microsoft.com/office/drawing/2014/main" id="{33DBB48D-CC67-4278-DD72-4F98DB931661}"/>
              </a:ext>
            </a:extLst>
          </p:cNvPr>
          <p:cNvSpPr txBox="1"/>
          <p:nvPr/>
        </p:nvSpPr>
        <p:spPr>
          <a:xfrm>
            <a:off x="9865196" y="2846388"/>
            <a:ext cx="7766595" cy="2739211"/>
          </a:xfrm>
          <a:prstGeom prst="rect">
            <a:avLst/>
          </a:prstGeom>
          <a:noFill/>
        </p:spPr>
        <p:txBody>
          <a:bodyPr wrap="square">
            <a:spAutoFit/>
          </a:bodyPr>
          <a:lstStyle/>
          <a:p>
            <a:r>
              <a:rPr lang="en-IN" sz="2800" dirty="0"/>
              <a:t>⚙️</a:t>
            </a:r>
            <a:r>
              <a:rPr lang="en-IN" sz="2800" b="1" dirty="0"/>
              <a:t>Non-Functional Requirements</a:t>
            </a:r>
          </a:p>
          <a:p>
            <a:pPr marL="457200" indent="-457200">
              <a:buFont typeface="Arial" panose="020B0604020202020204" pitchFamily="34" charset="0"/>
              <a:buChar char="•"/>
            </a:pPr>
            <a:r>
              <a:rPr lang="en-IN" sz="2400" b="1" dirty="0"/>
              <a:t>Security:</a:t>
            </a:r>
            <a:r>
              <a:rPr lang="en-IN" sz="2400" dirty="0"/>
              <a:t> Password hashing, data privacy, encryption</a:t>
            </a:r>
          </a:p>
          <a:p>
            <a:pPr marL="457200" indent="-457200">
              <a:buFont typeface="Arial" panose="020B0604020202020204" pitchFamily="34" charset="0"/>
              <a:buChar char="•"/>
            </a:pPr>
            <a:r>
              <a:rPr lang="en-IN" sz="2400" b="1" dirty="0"/>
              <a:t>Performance:</a:t>
            </a:r>
            <a:r>
              <a:rPr lang="en-IN" sz="2400" dirty="0"/>
              <a:t> Fast prediction, optimized models</a:t>
            </a:r>
          </a:p>
          <a:p>
            <a:pPr marL="457200" indent="-457200">
              <a:buFont typeface="Arial" panose="020B0604020202020204" pitchFamily="34" charset="0"/>
              <a:buChar char="•"/>
            </a:pPr>
            <a:r>
              <a:rPr lang="en-IN" sz="2400" b="1" dirty="0"/>
              <a:t>Usability:</a:t>
            </a:r>
            <a:r>
              <a:rPr lang="en-IN" sz="2400" dirty="0"/>
              <a:t> Clean UI, user-friendly design</a:t>
            </a:r>
          </a:p>
          <a:p>
            <a:pPr marL="457200" indent="-457200">
              <a:buFont typeface="Arial" panose="020B0604020202020204" pitchFamily="34" charset="0"/>
              <a:buChar char="•"/>
            </a:pPr>
            <a:r>
              <a:rPr lang="en-IN" sz="2400" b="1" dirty="0"/>
              <a:t>Scalability:</a:t>
            </a:r>
            <a:r>
              <a:rPr lang="en-IN" sz="2400" dirty="0"/>
              <a:t> Modular system for future tools</a:t>
            </a:r>
          </a:p>
          <a:p>
            <a:pPr marL="457200" indent="-457200">
              <a:buFont typeface="Arial" panose="020B0604020202020204" pitchFamily="34" charset="0"/>
              <a:buChar char="•"/>
            </a:pPr>
            <a:r>
              <a:rPr lang="en-IN" sz="2400" b="1" dirty="0"/>
              <a:t>Portability:</a:t>
            </a:r>
            <a:r>
              <a:rPr lang="en-IN" sz="2400" dirty="0"/>
              <a:t> Cross-platform (Windows/Linux)</a:t>
            </a:r>
          </a:p>
          <a:p>
            <a:pPr marL="457200" indent="-457200">
              <a:buFont typeface="Arial" panose="020B0604020202020204" pitchFamily="34" charset="0"/>
              <a:buChar char="•"/>
            </a:pPr>
            <a:r>
              <a:rPr lang="en-IN" sz="2400" b="1" dirty="0"/>
              <a:t>Reliability:</a:t>
            </a:r>
            <a:r>
              <a:rPr lang="en-IN" sz="2400" dirty="0"/>
              <a:t> Error handling &amp; fallback logic</a:t>
            </a:r>
          </a:p>
        </p:txBody>
      </p:sp>
      <p:sp>
        <p:nvSpPr>
          <p:cNvPr id="29" name="TextBox 28">
            <a:extLst>
              <a:ext uri="{FF2B5EF4-FFF2-40B4-BE49-F238E27FC236}">
                <a16:creationId xmlns:a16="http://schemas.microsoft.com/office/drawing/2014/main" id="{CBCDB29A-2AAA-84A3-F6A4-E2BA4618205A}"/>
              </a:ext>
            </a:extLst>
          </p:cNvPr>
          <p:cNvSpPr txBox="1"/>
          <p:nvPr/>
        </p:nvSpPr>
        <p:spPr>
          <a:xfrm>
            <a:off x="7128892" y="8731076"/>
            <a:ext cx="9502346" cy="400110"/>
          </a:xfrm>
          <a:prstGeom prst="rect">
            <a:avLst/>
          </a:prstGeom>
          <a:noFill/>
        </p:spPr>
        <p:txBody>
          <a:bodyPr wrap="square">
            <a:spAutoFit/>
          </a:bodyPr>
          <a:lstStyle/>
          <a:p>
            <a:r>
              <a:rPr lang="en-IN" dirty="0"/>
              <a:t>🔁 </a:t>
            </a:r>
            <a:r>
              <a:rPr lang="en-IN" sz="2000" b="1" i="1" dirty="0"/>
              <a:t>Modular | Secure | AI-Integrated</a:t>
            </a:r>
            <a:endParaRPr lang="en-IN" b="1" dirty="0"/>
          </a:p>
        </p:txBody>
      </p:sp>
      <p:grpSp>
        <p:nvGrpSpPr>
          <p:cNvPr id="5" name="Group 4">
            <a:extLst>
              <a:ext uri="{FF2B5EF4-FFF2-40B4-BE49-F238E27FC236}">
                <a16:creationId xmlns:a16="http://schemas.microsoft.com/office/drawing/2014/main" id="{1EAB638F-F468-72D5-854F-BB052A6ADED4}"/>
              </a:ext>
            </a:extLst>
          </p:cNvPr>
          <p:cNvGrpSpPr/>
          <p:nvPr/>
        </p:nvGrpSpPr>
        <p:grpSpPr>
          <a:xfrm>
            <a:off x="0" y="0"/>
            <a:ext cx="19010313" cy="588943"/>
            <a:chOff x="-324644" y="2222500"/>
            <a:chExt cx="22261685" cy="1302327"/>
          </a:xfrm>
        </p:grpSpPr>
        <p:sp>
          <p:nvSpPr>
            <p:cNvPr id="6" name="object 2">
              <a:extLst>
                <a:ext uri="{FF2B5EF4-FFF2-40B4-BE49-F238E27FC236}">
                  <a16:creationId xmlns:a16="http://schemas.microsoft.com/office/drawing/2014/main" id="{E7ACF379-A538-81F8-2D2F-8B2AB24F53EA}"/>
                </a:ext>
              </a:extLst>
            </p:cNvPr>
            <p:cNvSpPr/>
            <p:nvPr/>
          </p:nvSpPr>
          <p:spPr>
            <a:xfrm>
              <a:off x="-324644"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009EF3"/>
            </a:solidFill>
          </p:spPr>
          <p:txBody>
            <a:bodyPr wrap="square" lIns="0" tIns="0" rIns="0" bIns="0" rtlCol="0"/>
            <a:lstStyle/>
            <a:p>
              <a:endParaRPr dirty="0"/>
            </a:p>
          </p:txBody>
        </p:sp>
        <p:sp>
          <p:nvSpPr>
            <p:cNvPr id="7" name="object 3">
              <a:extLst>
                <a:ext uri="{FF2B5EF4-FFF2-40B4-BE49-F238E27FC236}">
                  <a16:creationId xmlns:a16="http://schemas.microsoft.com/office/drawing/2014/main" id="{5BEFDF79-0826-9903-B66A-9602CC0CB56B}"/>
                </a:ext>
              </a:extLst>
            </p:cNvPr>
            <p:cNvSpPr/>
            <p:nvPr/>
          </p:nvSpPr>
          <p:spPr>
            <a:xfrm>
              <a:off x="16363156" y="2222500"/>
              <a:ext cx="5573885" cy="1302327"/>
            </a:xfrm>
            <a:custGeom>
              <a:avLst/>
              <a:gdLst/>
              <a:ahLst/>
              <a:cxnLst/>
              <a:rect l="l" t="t" r="r" b="b"/>
              <a:pathLst>
                <a:path w="1883409" h="440055">
                  <a:moveTo>
                    <a:pt x="0" y="0"/>
                  </a:moveTo>
                  <a:lnTo>
                    <a:pt x="0" y="439737"/>
                  </a:lnTo>
                  <a:lnTo>
                    <a:pt x="1883155" y="439737"/>
                  </a:lnTo>
                  <a:lnTo>
                    <a:pt x="1883155" y="0"/>
                  </a:lnTo>
                  <a:lnTo>
                    <a:pt x="0" y="0"/>
                  </a:lnTo>
                  <a:close/>
                </a:path>
              </a:pathLst>
            </a:custGeom>
            <a:solidFill>
              <a:srgbClr val="FF8200"/>
            </a:solidFill>
          </p:spPr>
          <p:txBody>
            <a:bodyPr wrap="square" lIns="0" tIns="0" rIns="0" bIns="0" rtlCol="0"/>
            <a:lstStyle/>
            <a:p>
              <a:endParaRPr dirty="0"/>
            </a:p>
          </p:txBody>
        </p:sp>
        <p:sp>
          <p:nvSpPr>
            <p:cNvPr id="8" name="object 2">
              <a:extLst>
                <a:ext uri="{FF2B5EF4-FFF2-40B4-BE49-F238E27FC236}">
                  <a16:creationId xmlns:a16="http://schemas.microsoft.com/office/drawing/2014/main" id="{593AEC12-3828-D1ED-70AB-1363BCE27799}"/>
                </a:ext>
              </a:extLst>
            </p:cNvPr>
            <p:cNvSpPr/>
            <p:nvPr/>
          </p:nvSpPr>
          <p:spPr>
            <a:xfrm>
              <a:off x="5237956"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FFBF00"/>
            </a:solidFill>
          </p:spPr>
          <p:txBody>
            <a:bodyPr wrap="square" lIns="0" tIns="0" rIns="0" bIns="0" rtlCol="0"/>
            <a:lstStyle/>
            <a:p>
              <a:endParaRPr dirty="0"/>
            </a:p>
          </p:txBody>
        </p:sp>
        <p:sp>
          <p:nvSpPr>
            <p:cNvPr id="9" name="object 2">
              <a:extLst>
                <a:ext uri="{FF2B5EF4-FFF2-40B4-BE49-F238E27FC236}">
                  <a16:creationId xmlns:a16="http://schemas.microsoft.com/office/drawing/2014/main" id="{2B68400A-4C4E-B5DF-8343-8CB1D93EAE92}"/>
                </a:ext>
              </a:extLst>
            </p:cNvPr>
            <p:cNvSpPr/>
            <p:nvPr/>
          </p:nvSpPr>
          <p:spPr>
            <a:xfrm>
              <a:off x="10800556"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FFA100"/>
            </a:solidFill>
          </p:spPr>
          <p:txBody>
            <a:bodyPr wrap="square" lIns="0" tIns="0" rIns="0" bIns="0" rtlCol="0"/>
            <a:lstStyle/>
            <a:p>
              <a:endParaRPr dirty="0"/>
            </a:p>
          </p:txBody>
        </p:sp>
      </p:grpSp>
    </p:spTree>
    <p:extLst>
      <p:ext uri="{BB962C8B-B14F-4D97-AF65-F5344CB8AC3E}">
        <p14:creationId xmlns:p14="http://schemas.microsoft.com/office/powerpoint/2010/main" val="36168593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D6EBC91-2765-77D7-09A5-2949D64AA4A1}"/>
              </a:ext>
            </a:extLst>
          </p:cNvPr>
          <p:cNvSpPr>
            <a:spLocks noGrp="1"/>
          </p:cNvSpPr>
          <p:nvPr>
            <p:ph type="dt" sz="half" idx="10"/>
          </p:nvPr>
        </p:nvSpPr>
        <p:spPr/>
        <p:txBody>
          <a:bodyPr/>
          <a:lstStyle/>
          <a:p>
            <a:fld id="{EA8A1AFC-9F3B-438B-B10C-E9A9073FAD5F}" type="datetime1">
              <a:rPr lang="en-IN" smtClean="0"/>
              <a:t>28-10-2025</a:t>
            </a:fld>
            <a:endParaRPr lang="en-IN"/>
          </a:p>
        </p:txBody>
      </p:sp>
      <p:sp>
        <p:nvSpPr>
          <p:cNvPr id="3" name="Slide Number Placeholder 2">
            <a:extLst>
              <a:ext uri="{FF2B5EF4-FFF2-40B4-BE49-F238E27FC236}">
                <a16:creationId xmlns:a16="http://schemas.microsoft.com/office/drawing/2014/main" id="{EB344C8D-EC50-DEFA-EE4B-072E8C7D12D8}"/>
              </a:ext>
            </a:extLst>
          </p:cNvPr>
          <p:cNvSpPr>
            <a:spLocks noGrp="1"/>
          </p:cNvSpPr>
          <p:nvPr>
            <p:ph type="sldNum" sz="quarter" idx="12"/>
          </p:nvPr>
        </p:nvSpPr>
        <p:spPr/>
        <p:txBody>
          <a:bodyPr/>
          <a:lstStyle/>
          <a:p>
            <a:fld id="{DCC7CF5C-16A0-4876-B638-15BC6385E45C}" type="slidenum">
              <a:rPr lang="en-IN" smtClean="0"/>
              <a:t>5</a:t>
            </a:fld>
            <a:endParaRPr lang="en-IN"/>
          </a:p>
        </p:txBody>
      </p:sp>
      <p:sp>
        <p:nvSpPr>
          <p:cNvPr id="4" name="Title 3">
            <a:extLst>
              <a:ext uri="{FF2B5EF4-FFF2-40B4-BE49-F238E27FC236}">
                <a16:creationId xmlns:a16="http://schemas.microsoft.com/office/drawing/2014/main" id="{231F177E-B099-FB98-79F1-2069C457FBC1}"/>
              </a:ext>
            </a:extLst>
          </p:cNvPr>
          <p:cNvSpPr>
            <a:spLocks noGrp="1"/>
          </p:cNvSpPr>
          <p:nvPr>
            <p:ph type="title"/>
          </p:nvPr>
        </p:nvSpPr>
        <p:spPr/>
        <p:txBody>
          <a:bodyPr/>
          <a:lstStyle/>
          <a:p>
            <a:pPr algn="ctr"/>
            <a:r>
              <a:rPr lang="en-IN" sz="6600" b="1" dirty="0">
                <a:latin typeface="Bahnschrift SemiBold Condensed" panose="020B0502040204020203" pitchFamily="34" charset="0"/>
              </a:rPr>
              <a:t>Design &amp; Development</a:t>
            </a:r>
            <a:br>
              <a:rPr lang="en-IN" b="1" dirty="0"/>
            </a:br>
            <a:endParaRPr lang="en-IN" dirty="0"/>
          </a:p>
        </p:txBody>
      </p:sp>
      <p:sp>
        <p:nvSpPr>
          <p:cNvPr id="5" name="Content Placeholder 4">
            <a:extLst>
              <a:ext uri="{FF2B5EF4-FFF2-40B4-BE49-F238E27FC236}">
                <a16:creationId xmlns:a16="http://schemas.microsoft.com/office/drawing/2014/main" id="{A234C909-2C54-2F71-71BC-08C2B5B80054}"/>
              </a:ext>
            </a:extLst>
          </p:cNvPr>
          <p:cNvSpPr>
            <a:spLocks noGrp="1"/>
          </p:cNvSpPr>
          <p:nvPr>
            <p:ph idx="1"/>
          </p:nvPr>
        </p:nvSpPr>
        <p:spPr>
          <a:xfrm>
            <a:off x="720181" y="1954213"/>
            <a:ext cx="4464496" cy="800200"/>
          </a:xfrm>
        </p:spPr>
        <p:txBody>
          <a:bodyPr/>
          <a:lstStyle/>
          <a:p>
            <a:pPr>
              <a:lnSpc>
                <a:spcPct val="100000"/>
              </a:lnSpc>
              <a:buNone/>
            </a:pPr>
            <a:r>
              <a:rPr lang="en-IN" sz="3600" b="1" dirty="0"/>
              <a:t>System Architecture:</a:t>
            </a:r>
          </a:p>
          <a:p>
            <a:pPr>
              <a:lnSpc>
                <a:spcPct val="100000"/>
              </a:lnSpc>
              <a:buNone/>
            </a:pPr>
            <a:endParaRPr lang="en-IN" dirty="0"/>
          </a:p>
          <a:p>
            <a:pPr>
              <a:lnSpc>
                <a:spcPct val="100000"/>
              </a:lnSpc>
              <a:buNone/>
            </a:pPr>
            <a:endParaRPr lang="en-IN" dirty="0"/>
          </a:p>
          <a:p>
            <a:pPr marL="0" indent="0">
              <a:buNone/>
            </a:pPr>
            <a:endParaRPr lang="en-IN" dirty="0"/>
          </a:p>
        </p:txBody>
      </p:sp>
      <p:pic>
        <p:nvPicPr>
          <p:cNvPr id="11" name="Picture 10">
            <a:extLst>
              <a:ext uri="{FF2B5EF4-FFF2-40B4-BE49-F238E27FC236}">
                <a16:creationId xmlns:a16="http://schemas.microsoft.com/office/drawing/2014/main" id="{C0CD0B3C-BAC0-3819-C6FE-DD59586770D1}"/>
              </a:ext>
            </a:extLst>
          </p:cNvPr>
          <p:cNvPicPr>
            <a:picLocks noChangeAspect="1"/>
          </p:cNvPicPr>
          <p:nvPr/>
        </p:nvPicPr>
        <p:blipFill>
          <a:blip r:embed="rId2"/>
          <a:stretch>
            <a:fillRect/>
          </a:stretch>
        </p:blipFill>
        <p:spPr>
          <a:xfrm>
            <a:off x="5584825" y="2398823"/>
            <a:ext cx="8529464" cy="7867530"/>
          </a:xfrm>
          <a:prstGeom prst="rect">
            <a:avLst/>
          </a:prstGeom>
        </p:spPr>
      </p:pic>
      <p:grpSp>
        <p:nvGrpSpPr>
          <p:cNvPr id="6" name="Group 5">
            <a:extLst>
              <a:ext uri="{FF2B5EF4-FFF2-40B4-BE49-F238E27FC236}">
                <a16:creationId xmlns:a16="http://schemas.microsoft.com/office/drawing/2014/main" id="{A4D9B95D-BE4F-EE67-6262-8F3F65A78F1E}"/>
              </a:ext>
            </a:extLst>
          </p:cNvPr>
          <p:cNvGrpSpPr/>
          <p:nvPr/>
        </p:nvGrpSpPr>
        <p:grpSpPr>
          <a:xfrm>
            <a:off x="0" y="0"/>
            <a:ext cx="19010313" cy="588943"/>
            <a:chOff x="-324644" y="2222500"/>
            <a:chExt cx="22261685" cy="1302327"/>
          </a:xfrm>
        </p:grpSpPr>
        <p:sp>
          <p:nvSpPr>
            <p:cNvPr id="7" name="object 2">
              <a:extLst>
                <a:ext uri="{FF2B5EF4-FFF2-40B4-BE49-F238E27FC236}">
                  <a16:creationId xmlns:a16="http://schemas.microsoft.com/office/drawing/2014/main" id="{ECEF5E49-9B18-4FC0-428E-7CA516F2F28C}"/>
                </a:ext>
              </a:extLst>
            </p:cNvPr>
            <p:cNvSpPr/>
            <p:nvPr/>
          </p:nvSpPr>
          <p:spPr>
            <a:xfrm>
              <a:off x="-324644"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009EF3"/>
            </a:solidFill>
          </p:spPr>
          <p:txBody>
            <a:bodyPr wrap="square" lIns="0" tIns="0" rIns="0" bIns="0" rtlCol="0"/>
            <a:lstStyle/>
            <a:p>
              <a:endParaRPr dirty="0"/>
            </a:p>
          </p:txBody>
        </p:sp>
        <p:sp>
          <p:nvSpPr>
            <p:cNvPr id="8" name="object 3">
              <a:extLst>
                <a:ext uri="{FF2B5EF4-FFF2-40B4-BE49-F238E27FC236}">
                  <a16:creationId xmlns:a16="http://schemas.microsoft.com/office/drawing/2014/main" id="{4D3E9CB1-5E2A-840D-E675-D78C825CB79B}"/>
                </a:ext>
              </a:extLst>
            </p:cNvPr>
            <p:cNvSpPr/>
            <p:nvPr/>
          </p:nvSpPr>
          <p:spPr>
            <a:xfrm>
              <a:off x="16363156" y="2222500"/>
              <a:ext cx="5573885" cy="1302327"/>
            </a:xfrm>
            <a:custGeom>
              <a:avLst/>
              <a:gdLst/>
              <a:ahLst/>
              <a:cxnLst/>
              <a:rect l="l" t="t" r="r" b="b"/>
              <a:pathLst>
                <a:path w="1883409" h="440055">
                  <a:moveTo>
                    <a:pt x="0" y="0"/>
                  </a:moveTo>
                  <a:lnTo>
                    <a:pt x="0" y="439737"/>
                  </a:lnTo>
                  <a:lnTo>
                    <a:pt x="1883155" y="439737"/>
                  </a:lnTo>
                  <a:lnTo>
                    <a:pt x="1883155" y="0"/>
                  </a:lnTo>
                  <a:lnTo>
                    <a:pt x="0" y="0"/>
                  </a:lnTo>
                  <a:close/>
                </a:path>
              </a:pathLst>
            </a:custGeom>
            <a:solidFill>
              <a:srgbClr val="FF8200"/>
            </a:solidFill>
          </p:spPr>
          <p:txBody>
            <a:bodyPr wrap="square" lIns="0" tIns="0" rIns="0" bIns="0" rtlCol="0"/>
            <a:lstStyle/>
            <a:p>
              <a:endParaRPr dirty="0"/>
            </a:p>
          </p:txBody>
        </p:sp>
        <p:sp>
          <p:nvSpPr>
            <p:cNvPr id="9" name="object 2">
              <a:extLst>
                <a:ext uri="{FF2B5EF4-FFF2-40B4-BE49-F238E27FC236}">
                  <a16:creationId xmlns:a16="http://schemas.microsoft.com/office/drawing/2014/main" id="{507462FE-CF0A-AE38-CA06-7D681B167A1A}"/>
                </a:ext>
              </a:extLst>
            </p:cNvPr>
            <p:cNvSpPr/>
            <p:nvPr/>
          </p:nvSpPr>
          <p:spPr>
            <a:xfrm>
              <a:off x="5237956"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FFBF00"/>
            </a:solidFill>
          </p:spPr>
          <p:txBody>
            <a:bodyPr wrap="square" lIns="0" tIns="0" rIns="0" bIns="0" rtlCol="0"/>
            <a:lstStyle/>
            <a:p>
              <a:endParaRPr dirty="0"/>
            </a:p>
          </p:txBody>
        </p:sp>
        <p:sp>
          <p:nvSpPr>
            <p:cNvPr id="10" name="object 2">
              <a:extLst>
                <a:ext uri="{FF2B5EF4-FFF2-40B4-BE49-F238E27FC236}">
                  <a16:creationId xmlns:a16="http://schemas.microsoft.com/office/drawing/2014/main" id="{C7D8E443-4D08-6EE9-5542-C6DE363D097A}"/>
                </a:ext>
              </a:extLst>
            </p:cNvPr>
            <p:cNvSpPr/>
            <p:nvPr/>
          </p:nvSpPr>
          <p:spPr>
            <a:xfrm>
              <a:off x="10800556"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FFA100"/>
            </a:solidFill>
          </p:spPr>
          <p:txBody>
            <a:bodyPr wrap="square" lIns="0" tIns="0" rIns="0" bIns="0" rtlCol="0"/>
            <a:lstStyle/>
            <a:p>
              <a:endParaRPr dirty="0"/>
            </a:p>
          </p:txBody>
        </p:sp>
      </p:grpSp>
    </p:spTree>
    <p:extLst>
      <p:ext uri="{BB962C8B-B14F-4D97-AF65-F5344CB8AC3E}">
        <p14:creationId xmlns:p14="http://schemas.microsoft.com/office/powerpoint/2010/main" val="31186956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DCDF8C-A326-3533-1D40-2CC6796ACEEA}"/>
              </a:ext>
            </a:extLst>
          </p:cNvPr>
          <p:cNvSpPr>
            <a:spLocks noGrp="1"/>
          </p:cNvSpPr>
          <p:nvPr>
            <p:ph type="dt" sz="half" idx="10"/>
          </p:nvPr>
        </p:nvSpPr>
        <p:spPr/>
        <p:txBody>
          <a:bodyPr/>
          <a:lstStyle/>
          <a:p>
            <a:fld id="{EA8A1AFC-9F3B-438B-B10C-E9A9073FAD5F}" type="datetime1">
              <a:rPr lang="en-IN" smtClean="0"/>
              <a:t>28-10-2025</a:t>
            </a:fld>
            <a:endParaRPr lang="en-IN"/>
          </a:p>
        </p:txBody>
      </p:sp>
      <p:sp>
        <p:nvSpPr>
          <p:cNvPr id="3" name="Slide Number Placeholder 2">
            <a:extLst>
              <a:ext uri="{FF2B5EF4-FFF2-40B4-BE49-F238E27FC236}">
                <a16:creationId xmlns:a16="http://schemas.microsoft.com/office/drawing/2014/main" id="{CE82E7EB-A018-7F19-EA56-C72BC9C86986}"/>
              </a:ext>
            </a:extLst>
          </p:cNvPr>
          <p:cNvSpPr>
            <a:spLocks noGrp="1"/>
          </p:cNvSpPr>
          <p:nvPr>
            <p:ph type="sldNum" sz="quarter" idx="12"/>
          </p:nvPr>
        </p:nvSpPr>
        <p:spPr/>
        <p:txBody>
          <a:bodyPr/>
          <a:lstStyle/>
          <a:p>
            <a:fld id="{DCC7CF5C-16A0-4876-B638-15BC6385E45C}" type="slidenum">
              <a:rPr lang="en-IN" smtClean="0"/>
              <a:t>6</a:t>
            </a:fld>
            <a:endParaRPr lang="en-IN"/>
          </a:p>
        </p:txBody>
      </p:sp>
      <p:sp>
        <p:nvSpPr>
          <p:cNvPr id="4" name="Title 3">
            <a:extLst>
              <a:ext uri="{FF2B5EF4-FFF2-40B4-BE49-F238E27FC236}">
                <a16:creationId xmlns:a16="http://schemas.microsoft.com/office/drawing/2014/main" id="{004D23E3-CBF8-89C9-9A06-D4DC936ABC7E}"/>
              </a:ext>
            </a:extLst>
          </p:cNvPr>
          <p:cNvSpPr>
            <a:spLocks noGrp="1"/>
          </p:cNvSpPr>
          <p:nvPr>
            <p:ph type="title"/>
          </p:nvPr>
        </p:nvSpPr>
        <p:spPr>
          <a:xfrm>
            <a:off x="1306513" y="868343"/>
            <a:ext cx="14031291" cy="1698646"/>
          </a:xfrm>
        </p:spPr>
        <p:txBody>
          <a:bodyPr/>
          <a:lstStyle/>
          <a:p>
            <a:r>
              <a:rPr lang="en-IN" b="1" dirty="0">
                <a:latin typeface="Arial Rounded MT Bold" panose="020F0704030504030204" pitchFamily="34" charset="0"/>
              </a:rPr>
              <a:t>SMS Spam Classification using Machine Learning</a:t>
            </a:r>
            <a:br>
              <a:rPr lang="en-IN" b="1" dirty="0"/>
            </a:br>
            <a:endParaRPr lang="en-IN" dirty="0"/>
          </a:p>
        </p:txBody>
      </p:sp>
      <p:sp>
        <p:nvSpPr>
          <p:cNvPr id="5" name="Content Placeholder 4">
            <a:extLst>
              <a:ext uri="{FF2B5EF4-FFF2-40B4-BE49-F238E27FC236}">
                <a16:creationId xmlns:a16="http://schemas.microsoft.com/office/drawing/2014/main" id="{CBCAE0A5-2F0B-F292-3A7C-BE29023669AE}"/>
              </a:ext>
            </a:extLst>
          </p:cNvPr>
          <p:cNvSpPr>
            <a:spLocks noGrp="1"/>
          </p:cNvSpPr>
          <p:nvPr>
            <p:ph idx="1"/>
          </p:nvPr>
        </p:nvSpPr>
        <p:spPr>
          <a:xfrm>
            <a:off x="1306513" y="2826420"/>
            <a:ext cx="7982619" cy="6784975"/>
          </a:xfrm>
        </p:spPr>
        <p:txBody>
          <a:bodyPr/>
          <a:lstStyle/>
          <a:p>
            <a:pPr>
              <a:buNone/>
            </a:pPr>
            <a:r>
              <a:rPr lang="en-IN" b="1" dirty="0"/>
              <a:t>Architecture:</a:t>
            </a:r>
          </a:p>
          <a:p>
            <a:pPr>
              <a:buFont typeface="+mj-lt"/>
              <a:buAutoNum type="arabicPeriod"/>
            </a:pPr>
            <a:r>
              <a:rPr lang="en-IN" b="1" dirty="0"/>
              <a:t>Data Collection:</a:t>
            </a:r>
            <a:r>
              <a:rPr lang="en-IN" dirty="0"/>
              <a:t> UCI SMS Spam Collection dataset</a:t>
            </a:r>
          </a:p>
          <a:p>
            <a:pPr>
              <a:buFont typeface="+mj-lt"/>
              <a:buAutoNum type="arabicPeriod"/>
            </a:pPr>
            <a:r>
              <a:rPr lang="en-IN" b="1" dirty="0"/>
              <a:t>Preprocessing:</a:t>
            </a:r>
            <a:r>
              <a:rPr lang="en-IN" dirty="0"/>
              <a:t> Text cleaning, tokenization, stop-word removal, TF-IDF vectorization</a:t>
            </a:r>
          </a:p>
          <a:p>
            <a:pPr>
              <a:buFont typeface="+mj-lt"/>
              <a:buAutoNum type="arabicPeriod"/>
            </a:pPr>
            <a:r>
              <a:rPr lang="en-IN" b="1" dirty="0"/>
              <a:t>Model Training:</a:t>
            </a:r>
            <a:r>
              <a:rPr lang="en-IN" dirty="0"/>
              <a:t> Algorithms like Naïve Bayes, Logistic Regression, SVM, Random Forest, LSTM</a:t>
            </a:r>
          </a:p>
          <a:p>
            <a:pPr>
              <a:buFont typeface="+mj-lt"/>
              <a:buAutoNum type="arabicPeriod"/>
            </a:pPr>
            <a:r>
              <a:rPr lang="en-IN" b="1" dirty="0"/>
              <a:t>Evaluation:</a:t>
            </a:r>
            <a:r>
              <a:rPr lang="en-IN" dirty="0"/>
              <a:t> Accuracy, Precision, Recall, F1-score</a:t>
            </a:r>
          </a:p>
          <a:p>
            <a:pPr>
              <a:buFont typeface="+mj-lt"/>
              <a:buAutoNum type="arabicPeriod"/>
            </a:pPr>
            <a:r>
              <a:rPr lang="en-IN" b="1" dirty="0"/>
              <a:t>Deployment:</a:t>
            </a:r>
            <a:r>
              <a:rPr lang="en-IN" dirty="0"/>
              <a:t> Flask API / Stream lit for user interface</a:t>
            </a:r>
          </a:p>
          <a:p>
            <a:pPr marL="0" indent="0">
              <a:buNone/>
            </a:pPr>
            <a:endParaRPr lang="en-IN" dirty="0"/>
          </a:p>
          <a:p>
            <a:pPr>
              <a:buNone/>
            </a:pPr>
            <a:r>
              <a:rPr lang="en-IN" b="1" dirty="0"/>
              <a:t>Dataset:</a:t>
            </a:r>
          </a:p>
          <a:p>
            <a:pPr>
              <a:buFont typeface="Arial" panose="020B0604020202020204" pitchFamily="34" charset="0"/>
              <a:buChar char="•"/>
            </a:pPr>
            <a:r>
              <a:rPr lang="en-IN" b="1" dirty="0"/>
              <a:t>Source:</a:t>
            </a:r>
            <a:r>
              <a:rPr lang="en-IN" dirty="0"/>
              <a:t> UCI Machine Learning Repository</a:t>
            </a:r>
          </a:p>
          <a:p>
            <a:pPr>
              <a:buFont typeface="Arial" panose="020B0604020202020204" pitchFamily="34" charset="0"/>
              <a:buChar char="•"/>
            </a:pPr>
            <a:r>
              <a:rPr lang="en-IN" b="1" dirty="0"/>
              <a:t>Size:</a:t>
            </a:r>
            <a:r>
              <a:rPr lang="en-IN" dirty="0"/>
              <a:t> 5,574 messages</a:t>
            </a:r>
          </a:p>
          <a:p>
            <a:pPr>
              <a:buFont typeface="Arial" panose="020B0604020202020204" pitchFamily="34" charset="0"/>
              <a:buChar char="•"/>
            </a:pPr>
            <a:r>
              <a:rPr lang="en-IN" b="1" dirty="0"/>
              <a:t>Labels:</a:t>
            </a:r>
            <a:r>
              <a:rPr lang="en-IN" dirty="0"/>
              <a:t> </a:t>
            </a:r>
            <a:r>
              <a:rPr lang="en-IN" b="1" dirty="0"/>
              <a:t>Ham (Legitimate) or Spam</a:t>
            </a:r>
            <a:endParaRPr lang="en-IN" dirty="0"/>
          </a:p>
          <a:p>
            <a:pPr marL="0" indent="0">
              <a:buNone/>
            </a:pPr>
            <a:endParaRPr lang="en-IN" dirty="0"/>
          </a:p>
        </p:txBody>
      </p:sp>
      <p:pic>
        <p:nvPicPr>
          <p:cNvPr id="7" name="Picture 6">
            <a:extLst>
              <a:ext uri="{FF2B5EF4-FFF2-40B4-BE49-F238E27FC236}">
                <a16:creationId xmlns:a16="http://schemas.microsoft.com/office/drawing/2014/main" id="{875CB55E-E88F-3DC7-97BF-5F774B28E7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97244" y="2826420"/>
            <a:ext cx="7406556" cy="3672408"/>
          </a:xfrm>
          <a:prstGeom prst="rect">
            <a:avLst/>
          </a:prstGeom>
        </p:spPr>
      </p:pic>
      <p:sp>
        <p:nvSpPr>
          <p:cNvPr id="8" name="TextBox 7">
            <a:extLst>
              <a:ext uri="{FF2B5EF4-FFF2-40B4-BE49-F238E27FC236}">
                <a16:creationId xmlns:a16="http://schemas.microsoft.com/office/drawing/2014/main" id="{927A01F3-1560-BD93-ADEE-F13C51543A50}"/>
              </a:ext>
            </a:extLst>
          </p:cNvPr>
          <p:cNvSpPr txBox="1"/>
          <p:nvPr/>
        </p:nvSpPr>
        <p:spPr>
          <a:xfrm>
            <a:off x="10297244" y="2457088"/>
            <a:ext cx="2808312" cy="369332"/>
          </a:xfrm>
          <a:prstGeom prst="rect">
            <a:avLst/>
          </a:prstGeom>
          <a:noFill/>
        </p:spPr>
        <p:txBody>
          <a:bodyPr wrap="square" rtlCol="0">
            <a:spAutoFit/>
          </a:bodyPr>
          <a:lstStyle/>
          <a:p>
            <a:r>
              <a:rPr lang="en-US" b="1" dirty="0"/>
              <a:t>Training accuracy</a:t>
            </a:r>
            <a:endParaRPr lang="en-IN" b="1" dirty="0"/>
          </a:p>
        </p:txBody>
      </p:sp>
      <p:pic>
        <p:nvPicPr>
          <p:cNvPr id="10" name="Picture 9">
            <a:extLst>
              <a:ext uri="{FF2B5EF4-FFF2-40B4-BE49-F238E27FC236}">
                <a16:creationId xmlns:a16="http://schemas.microsoft.com/office/drawing/2014/main" id="{0802A0B1-3006-5C02-2C26-5FA29EF0AA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97244" y="7123789"/>
            <a:ext cx="7406556" cy="3115110"/>
          </a:xfrm>
          <a:prstGeom prst="rect">
            <a:avLst/>
          </a:prstGeom>
        </p:spPr>
      </p:pic>
      <p:sp>
        <p:nvSpPr>
          <p:cNvPr id="11" name="TextBox 10">
            <a:extLst>
              <a:ext uri="{FF2B5EF4-FFF2-40B4-BE49-F238E27FC236}">
                <a16:creationId xmlns:a16="http://schemas.microsoft.com/office/drawing/2014/main" id="{C99E0689-B2FB-76CD-4511-2EA87F7C2DD8}"/>
              </a:ext>
            </a:extLst>
          </p:cNvPr>
          <p:cNvSpPr txBox="1"/>
          <p:nvPr/>
        </p:nvSpPr>
        <p:spPr>
          <a:xfrm>
            <a:off x="10297244" y="6498828"/>
            <a:ext cx="1872208" cy="383185"/>
          </a:xfrm>
          <a:prstGeom prst="rect">
            <a:avLst/>
          </a:prstGeom>
          <a:noFill/>
        </p:spPr>
        <p:txBody>
          <a:bodyPr wrap="square" rtlCol="0">
            <a:spAutoFit/>
          </a:bodyPr>
          <a:lstStyle/>
          <a:p>
            <a:r>
              <a:rPr lang="en-US" b="1" dirty="0"/>
              <a:t>Testing accuracy</a:t>
            </a:r>
            <a:endParaRPr lang="en-IN" b="1" dirty="0"/>
          </a:p>
        </p:txBody>
      </p:sp>
      <p:grpSp>
        <p:nvGrpSpPr>
          <p:cNvPr id="6" name="Group 5">
            <a:extLst>
              <a:ext uri="{FF2B5EF4-FFF2-40B4-BE49-F238E27FC236}">
                <a16:creationId xmlns:a16="http://schemas.microsoft.com/office/drawing/2014/main" id="{09EE4612-8BAE-08B8-564A-BE0FEA37BEB8}"/>
              </a:ext>
            </a:extLst>
          </p:cNvPr>
          <p:cNvGrpSpPr/>
          <p:nvPr/>
        </p:nvGrpSpPr>
        <p:grpSpPr>
          <a:xfrm>
            <a:off x="0" y="0"/>
            <a:ext cx="19010313" cy="588943"/>
            <a:chOff x="-324644" y="2222500"/>
            <a:chExt cx="22261685" cy="1302327"/>
          </a:xfrm>
        </p:grpSpPr>
        <p:sp>
          <p:nvSpPr>
            <p:cNvPr id="9" name="object 2">
              <a:extLst>
                <a:ext uri="{FF2B5EF4-FFF2-40B4-BE49-F238E27FC236}">
                  <a16:creationId xmlns:a16="http://schemas.microsoft.com/office/drawing/2014/main" id="{6A21631A-8AFC-0879-6233-4D066000B289}"/>
                </a:ext>
              </a:extLst>
            </p:cNvPr>
            <p:cNvSpPr/>
            <p:nvPr/>
          </p:nvSpPr>
          <p:spPr>
            <a:xfrm>
              <a:off x="-324644"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009EF3"/>
            </a:solidFill>
          </p:spPr>
          <p:txBody>
            <a:bodyPr wrap="square" lIns="0" tIns="0" rIns="0" bIns="0" rtlCol="0"/>
            <a:lstStyle/>
            <a:p>
              <a:endParaRPr dirty="0"/>
            </a:p>
          </p:txBody>
        </p:sp>
        <p:sp>
          <p:nvSpPr>
            <p:cNvPr id="12" name="object 3">
              <a:extLst>
                <a:ext uri="{FF2B5EF4-FFF2-40B4-BE49-F238E27FC236}">
                  <a16:creationId xmlns:a16="http://schemas.microsoft.com/office/drawing/2014/main" id="{2462EB76-19BA-5ACF-AE47-7B0CA8AACD14}"/>
                </a:ext>
              </a:extLst>
            </p:cNvPr>
            <p:cNvSpPr/>
            <p:nvPr/>
          </p:nvSpPr>
          <p:spPr>
            <a:xfrm>
              <a:off x="16363156" y="2222500"/>
              <a:ext cx="5573885" cy="1302327"/>
            </a:xfrm>
            <a:custGeom>
              <a:avLst/>
              <a:gdLst/>
              <a:ahLst/>
              <a:cxnLst/>
              <a:rect l="l" t="t" r="r" b="b"/>
              <a:pathLst>
                <a:path w="1883409" h="440055">
                  <a:moveTo>
                    <a:pt x="0" y="0"/>
                  </a:moveTo>
                  <a:lnTo>
                    <a:pt x="0" y="439737"/>
                  </a:lnTo>
                  <a:lnTo>
                    <a:pt x="1883155" y="439737"/>
                  </a:lnTo>
                  <a:lnTo>
                    <a:pt x="1883155" y="0"/>
                  </a:lnTo>
                  <a:lnTo>
                    <a:pt x="0" y="0"/>
                  </a:lnTo>
                  <a:close/>
                </a:path>
              </a:pathLst>
            </a:custGeom>
            <a:solidFill>
              <a:srgbClr val="FF8200"/>
            </a:solidFill>
          </p:spPr>
          <p:txBody>
            <a:bodyPr wrap="square" lIns="0" tIns="0" rIns="0" bIns="0" rtlCol="0"/>
            <a:lstStyle/>
            <a:p>
              <a:endParaRPr dirty="0"/>
            </a:p>
          </p:txBody>
        </p:sp>
        <p:sp>
          <p:nvSpPr>
            <p:cNvPr id="13" name="object 2">
              <a:extLst>
                <a:ext uri="{FF2B5EF4-FFF2-40B4-BE49-F238E27FC236}">
                  <a16:creationId xmlns:a16="http://schemas.microsoft.com/office/drawing/2014/main" id="{87029DB3-EA0B-9680-389D-E2409E2FBD0F}"/>
                </a:ext>
              </a:extLst>
            </p:cNvPr>
            <p:cNvSpPr/>
            <p:nvPr/>
          </p:nvSpPr>
          <p:spPr>
            <a:xfrm>
              <a:off x="5237956"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FFBF00"/>
            </a:solidFill>
          </p:spPr>
          <p:txBody>
            <a:bodyPr wrap="square" lIns="0" tIns="0" rIns="0" bIns="0" rtlCol="0"/>
            <a:lstStyle/>
            <a:p>
              <a:endParaRPr dirty="0"/>
            </a:p>
          </p:txBody>
        </p:sp>
        <p:sp>
          <p:nvSpPr>
            <p:cNvPr id="14" name="object 2">
              <a:extLst>
                <a:ext uri="{FF2B5EF4-FFF2-40B4-BE49-F238E27FC236}">
                  <a16:creationId xmlns:a16="http://schemas.microsoft.com/office/drawing/2014/main" id="{3A8E1CA0-F4BB-FD89-9C40-3B3C0AFE4420}"/>
                </a:ext>
              </a:extLst>
            </p:cNvPr>
            <p:cNvSpPr/>
            <p:nvPr/>
          </p:nvSpPr>
          <p:spPr>
            <a:xfrm>
              <a:off x="10800556"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FFA100"/>
            </a:solidFill>
          </p:spPr>
          <p:txBody>
            <a:bodyPr wrap="square" lIns="0" tIns="0" rIns="0" bIns="0" rtlCol="0"/>
            <a:lstStyle/>
            <a:p>
              <a:endParaRPr dirty="0"/>
            </a:p>
          </p:txBody>
        </p:sp>
      </p:grpSp>
    </p:spTree>
    <p:extLst>
      <p:ext uri="{BB962C8B-B14F-4D97-AF65-F5344CB8AC3E}">
        <p14:creationId xmlns:p14="http://schemas.microsoft.com/office/powerpoint/2010/main" val="30460771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564C062-A677-2424-E703-ABBEFADD311A}"/>
              </a:ext>
            </a:extLst>
          </p:cNvPr>
          <p:cNvSpPr>
            <a:spLocks noGrp="1"/>
          </p:cNvSpPr>
          <p:nvPr>
            <p:ph type="dt" sz="half" idx="10"/>
          </p:nvPr>
        </p:nvSpPr>
        <p:spPr/>
        <p:txBody>
          <a:bodyPr/>
          <a:lstStyle/>
          <a:p>
            <a:fld id="{EA8A1AFC-9F3B-438B-B10C-E9A9073FAD5F}" type="datetime1">
              <a:rPr lang="en-IN" smtClean="0"/>
              <a:t>28-10-2025</a:t>
            </a:fld>
            <a:endParaRPr lang="en-IN"/>
          </a:p>
        </p:txBody>
      </p:sp>
      <p:sp>
        <p:nvSpPr>
          <p:cNvPr id="3" name="Slide Number Placeholder 2">
            <a:extLst>
              <a:ext uri="{FF2B5EF4-FFF2-40B4-BE49-F238E27FC236}">
                <a16:creationId xmlns:a16="http://schemas.microsoft.com/office/drawing/2014/main" id="{7318DA2A-0091-8D6A-B3E1-BD70C8588600}"/>
              </a:ext>
            </a:extLst>
          </p:cNvPr>
          <p:cNvSpPr>
            <a:spLocks noGrp="1"/>
          </p:cNvSpPr>
          <p:nvPr>
            <p:ph type="sldNum" sz="quarter" idx="12"/>
          </p:nvPr>
        </p:nvSpPr>
        <p:spPr/>
        <p:txBody>
          <a:bodyPr/>
          <a:lstStyle/>
          <a:p>
            <a:fld id="{DCC7CF5C-16A0-4876-B638-15BC6385E45C}" type="slidenum">
              <a:rPr lang="en-IN" smtClean="0"/>
              <a:t>7</a:t>
            </a:fld>
            <a:endParaRPr lang="en-IN"/>
          </a:p>
        </p:txBody>
      </p:sp>
      <p:sp>
        <p:nvSpPr>
          <p:cNvPr id="4" name="Title 3">
            <a:extLst>
              <a:ext uri="{FF2B5EF4-FFF2-40B4-BE49-F238E27FC236}">
                <a16:creationId xmlns:a16="http://schemas.microsoft.com/office/drawing/2014/main" id="{2E3A41B5-10A6-78FC-0853-F58F6EEB74C1}"/>
              </a:ext>
            </a:extLst>
          </p:cNvPr>
          <p:cNvSpPr>
            <a:spLocks noGrp="1"/>
          </p:cNvSpPr>
          <p:nvPr>
            <p:ph type="title"/>
          </p:nvPr>
        </p:nvSpPr>
        <p:spPr/>
        <p:txBody>
          <a:bodyPr/>
          <a:lstStyle/>
          <a:p>
            <a:r>
              <a:rPr lang="en-IN" b="1" dirty="0">
                <a:latin typeface="Arial Rounded MT Bold" panose="020F0704030504030204" pitchFamily="34" charset="0"/>
              </a:rPr>
              <a:t>Secure Data Hiding Using Image Steganography</a:t>
            </a:r>
            <a:br>
              <a:rPr lang="en-IN" b="1" dirty="0">
                <a:latin typeface="Arial Rounded MT Bold" panose="020F0704030504030204" pitchFamily="34" charset="0"/>
              </a:rPr>
            </a:br>
            <a:endParaRPr lang="en-IN" dirty="0">
              <a:latin typeface="Arial Rounded MT Bold" panose="020F0704030504030204" pitchFamily="34" charset="0"/>
            </a:endParaRPr>
          </a:p>
        </p:txBody>
      </p:sp>
      <p:sp>
        <p:nvSpPr>
          <p:cNvPr id="5" name="Content Placeholder 4">
            <a:extLst>
              <a:ext uri="{FF2B5EF4-FFF2-40B4-BE49-F238E27FC236}">
                <a16:creationId xmlns:a16="http://schemas.microsoft.com/office/drawing/2014/main" id="{AB2D0ABF-C7CF-E28D-5827-D43E52F68A00}"/>
              </a:ext>
            </a:extLst>
          </p:cNvPr>
          <p:cNvSpPr>
            <a:spLocks noGrp="1"/>
          </p:cNvSpPr>
          <p:nvPr>
            <p:ph idx="1"/>
          </p:nvPr>
        </p:nvSpPr>
        <p:spPr>
          <a:xfrm>
            <a:off x="1306513" y="2846388"/>
            <a:ext cx="16047515" cy="6784975"/>
          </a:xfrm>
        </p:spPr>
        <p:txBody>
          <a:bodyPr>
            <a:normAutofit lnSpcReduction="10000"/>
          </a:bodyPr>
          <a:lstStyle/>
          <a:p>
            <a:pPr>
              <a:buNone/>
            </a:pPr>
            <a:r>
              <a:rPr lang="en-IN" sz="3200" b="1" dirty="0"/>
              <a:t>Architecture:</a:t>
            </a:r>
          </a:p>
          <a:p>
            <a:pPr>
              <a:buFont typeface="+mj-lt"/>
              <a:buAutoNum type="arabicPeriod"/>
            </a:pPr>
            <a:r>
              <a:rPr lang="en-IN" sz="3200" b="1" dirty="0"/>
              <a:t>Data Input:</a:t>
            </a:r>
            <a:r>
              <a:rPr lang="en-IN" sz="3200" dirty="0"/>
              <a:t> User provides a </a:t>
            </a:r>
            <a:r>
              <a:rPr lang="en-IN" sz="3200" b="1" dirty="0"/>
              <a:t>secret message</a:t>
            </a:r>
            <a:r>
              <a:rPr lang="en-IN" sz="3200" dirty="0"/>
              <a:t> and selects an </a:t>
            </a:r>
            <a:r>
              <a:rPr lang="en-IN" sz="3200" b="1" dirty="0"/>
              <a:t>image</a:t>
            </a:r>
            <a:r>
              <a:rPr lang="en-IN" sz="3200" dirty="0"/>
              <a:t> for encryption.</a:t>
            </a:r>
          </a:p>
          <a:p>
            <a:pPr>
              <a:buFont typeface="+mj-lt"/>
              <a:buAutoNum type="arabicPeriod"/>
            </a:pPr>
            <a:r>
              <a:rPr lang="en-IN" sz="3200" b="1" dirty="0"/>
              <a:t>Encryption Process:</a:t>
            </a:r>
            <a:endParaRPr lang="en-IN" sz="3200" dirty="0"/>
          </a:p>
          <a:p>
            <a:pPr marL="742950" lvl="1" indent="-285750">
              <a:buFont typeface="+mj-lt"/>
              <a:buAutoNum type="arabicPeriod"/>
            </a:pPr>
            <a:r>
              <a:rPr lang="en-IN" sz="2800" dirty="0"/>
              <a:t>Message is hashed for security.</a:t>
            </a:r>
          </a:p>
          <a:p>
            <a:pPr marL="742950" lvl="1" indent="-285750">
              <a:buFont typeface="+mj-lt"/>
              <a:buAutoNum type="arabicPeriod"/>
            </a:pPr>
            <a:r>
              <a:rPr lang="en-IN" sz="2800" dirty="0"/>
              <a:t>The hashed message is embedded into image pixels using </a:t>
            </a:r>
            <a:r>
              <a:rPr lang="en-IN" sz="2800" b="1" dirty="0"/>
              <a:t>Least Significant Bit (LSB) steganography</a:t>
            </a:r>
            <a:r>
              <a:rPr lang="en-IN" sz="2800" dirty="0"/>
              <a:t>.</a:t>
            </a:r>
          </a:p>
          <a:p>
            <a:pPr>
              <a:buFont typeface="+mj-lt"/>
              <a:buAutoNum type="arabicPeriod"/>
            </a:pPr>
            <a:r>
              <a:rPr lang="en-IN" sz="3200" b="1" dirty="0"/>
              <a:t>Image Storage:</a:t>
            </a:r>
            <a:r>
              <a:rPr lang="en-IN" sz="3200" dirty="0"/>
              <a:t> The encrypted image is saved for secure transmission.</a:t>
            </a:r>
          </a:p>
          <a:p>
            <a:pPr>
              <a:buFont typeface="+mj-lt"/>
              <a:buAutoNum type="arabicPeriod"/>
            </a:pPr>
            <a:r>
              <a:rPr lang="en-IN" sz="3200" b="1" dirty="0"/>
              <a:t>Decryption Process:</a:t>
            </a:r>
            <a:endParaRPr lang="en-IN" sz="3200" dirty="0"/>
          </a:p>
          <a:p>
            <a:pPr marL="742950" lvl="1" indent="-285750">
              <a:buFont typeface="+mj-lt"/>
              <a:buAutoNum type="arabicPeriod"/>
            </a:pPr>
            <a:r>
              <a:rPr lang="en-IN" sz="2800" dirty="0"/>
              <a:t>The receiver enters a </a:t>
            </a:r>
            <a:r>
              <a:rPr lang="en-IN" sz="2800" b="1" dirty="0"/>
              <a:t>password</a:t>
            </a:r>
            <a:r>
              <a:rPr lang="en-IN" sz="2800" dirty="0"/>
              <a:t>.</a:t>
            </a:r>
          </a:p>
          <a:p>
            <a:pPr marL="742950" lvl="1" indent="-285750">
              <a:buFont typeface="+mj-lt"/>
              <a:buAutoNum type="arabicPeriod"/>
            </a:pPr>
            <a:r>
              <a:rPr lang="en-IN" sz="2800" dirty="0"/>
              <a:t>If correct, the hidden message is extracted and displayed.</a:t>
            </a:r>
          </a:p>
          <a:p>
            <a:pPr>
              <a:buNone/>
            </a:pPr>
            <a:r>
              <a:rPr lang="en-IN" sz="3200" b="1" dirty="0"/>
              <a:t>Dataset:</a:t>
            </a:r>
          </a:p>
          <a:p>
            <a:pPr>
              <a:buFont typeface="Arial" panose="020B0604020202020204" pitchFamily="34" charset="0"/>
              <a:buChar char="•"/>
            </a:pPr>
            <a:r>
              <a:rPr lang="en-IN" sz="3200" b="1" dirty="0"/>
              <a:t>Type:</a:t>
            </a:r>
            <a:r>
              <a:rPr lang="en-IN" sz="3200" dirty="0"/>
              <a:t> Custom dataset (Images + Encrypted text messages)</a:t>
            </a:r>
          </a:p>
          <a:p>
            <a:pPr>
              <a:buFont typeface="Arial" panose="020B0604020202020204" pitchFamily="34" charset="0"/>
              <a:buChar char="•"/>
            </a:pPr>
            <a:r>
              <a:rPr lang="en-IN" sz="3200" b="1" dirty="0"/>
              <a:t>Storage Format:</a:t>
            </a:r>
            <a:r>
              <a:rPr lang="en-IN" sz="3200" dirty="0"/>
              <a:t> PNG/JPEG images with hidden text</a:t>
            </a:r>
          </a:p>
          <a:p>
            <a:pPr>
              <a:buFont typeface="Arial" panose="020B0604020202020204" pitchFamily="34" charset="0"/>
              <a:buChar char="•"/>
            </a:pPr>
            <a:r>
              <a:rPr lang="en-IN" sz="3200" b="1" dirty="0"/>
              <a:t>Security:</a:t>
            </a:r>
            <a:r>
              <a:rPr lang="en-IN" sz="3200" dirty="0"/>
              <a:t> Uses </a:t>
            </a:r>
            <a:r>
              <a:rPr lang="en-IN" sz="3200" b="1" dirty="0"/>
              <a:t>SHA-256 hashing</a:t>
            </a:r>
            <a:r>
              <a:rPr lang="en-IN" sz="3200" dirty="0"/>
              <a:t> for authentication</a:t>
            </a:r>
          </a:p>
          <a:p>
            <a:pPr marL="0" indent="0">
              <a:buNone/>
            </a:pPr>
            <a:endParaRPr lang="en-IN" dirty="0"/>
          </a:p>
        </p:txBody>
      </p:sp>
      <p:pic>
        <p:nvPicPr>
          <p:cNvPr id="7" name="Picture 6">
            <a:extLst>
              <a:ext uri="{FF2B5EF4-FFF2-40B4-BE49-F238E27FC236}">
                <a16:creationId xmlns:a16="http://schemas.microsoft.com/office/drawing/2014/main" id="{1D76AB7D-C589-C3E4-0213-DD8498E392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4" y="5907054"/>
            <a:ext cx="7272909" cy="3469646"/>
          </a:xfrm>
          <a:prstGeom prst="rect">
            <a:avLst/>
          </a:prstGeom>
        </p:spPr>
      </p:pic>
      <p:grpSp>
        <p:nvGrpSpPr>
          <p:cNvPr id="6" name="Group 5">
            <a:extLst>
              <a:ext uri="{FF2B5EF4-FFF2-40B4-BE49-F238E27FC236}">
                <a16:creationId xmlns:a16="http://schemas.microsoft.com/office/drawing/2014/main" id="{B645E4FC-D030-C49F-5C79-01D01C4F043A}"/>
              </a:ext>
            </a:extLst>
          </p:cNvPr>
          <p:cNvGrpSpPr/>
          <p:nvPr/>
        </p:nvGrpSpPr>
        <p:grpSpPr>
          <a:xfrm>
            <a:off x="0" y="0"/>
            <a:ext cx="19010313" cy="588943"/>
            <a:chOff x="-324644" y="2222500"/>
            <a:chExt cx="22261685" cy="1302327"/>
          </a:xfrm>
        </p:grpSpPr>
        <p:sp>
          <p:nvSpPr>
            <p:cNvPr id="8" name="object 2">
              <a:extLst>
                <a:ext uri="{FF2B5EF4-FFF2-40B4-BE49-F238E27FC236}">
                  <a16:creationId xmlns:a16="http://schemas.microsoft.com/office/drawing/2014/main" id="{38482081-470A-EA33-CA63-BEF8D4BFF619}"/>
                </a:ext>
              </a:extLst>
            </p:cNvPr>
            <p:cNvSpPr/>
            <p:nvPr/>
          </p:nvSpPr>
          <p:spPr>
            <a:xfrm>
              <a:off x="-324644"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009EF3"/>
            </a:solidFill>
          </p:spPr>
          <p:txBody>
            <a:bodyPr wrap="square" lIns="0" tIns="0" rIns="0" bIns="0" rtlCol="0"/>
            <a:lstStyle/>
            <a:p>
              <a:endParaRPr dirty="0"/>
            </a:p>
          </p:txBody>
        </p:sp>
        <p:sp>
          <p:nvSpPr>
            <p:cNvPr id="9" name="object 3">
              <a:extLst>
                <a:ext uri="{FF2B5EF4-FFF2-40B4-BE49-F238E27FC236}">
                  <a16:creationId xmlns:a16="http://schemas.microsoft.com/office/drawing/2014/main" id="{54BF5872-5A71-EF1E-1BDE-0DCD49F608C4}"/>
                </a:ext>
              </a:extLst>
            </p:cNvPr>
            <p:cNvSpPr/>
            <p:nvPr/>
          </p:nvSpPr>
          <p:spPr>
            <a:xfrm>
              <a:off x="16363156" y="2222500"/>
              <a:ext cx="5573885" cy="1302327"/>
            </a:xfrm>
            <a:custGeom>
              <a:avLst/>
              <a:gdLst/>
              <a:ahLst/>
              <a:cxnLst/>
              <a:rect l="l" t="t" r="r" b="b"/>
              <a:pathLst>
                <a:path w="1883409" h="440055">
                  <a:moveTo>
                    <a:pt x="0" y="0"/>
                  </a:moveTo>
                  <a:lnTo>
                    <a:pt x="0" y="439737"/>
                  </a:lnTo>
                  <a:lnTo>
                    <a:pt x="1883155" y="439737"/>
                  </a:lnTo>
                  <a:lnTo>
                    <a:pt x="1883155" y="0"/>
                  </a:lnTo>
                  <a:lnTo>
                    <a:pt x="0" y="0"/>
                  </a:lnTo>
                  <a:close/>
                </a:path>
              </a:pathLst>
            </a:custGeom>
            <a:solidFill>
              <a:srgbClr val="FF8200"/>
            </a:solidFill>
          </p:spPr>
          <p:txBody>
            <a:bodyPr wrap="square" lIns="0" tIns="0" rIns="0" bIns="0" rtlCol="0"/>
            <a:lstStyle/>
            <a:p>
              <a:endParaRPr dirty="0"/>
            </a:p>
          </p:txBody>
        </p:sp>
        <p:sp>
          <p:nvSpPr>
            <p:cNvPr id="10" name="object 2">
              <a:extLst>
                <a:ext uri="{FF2B5EF4-FFF2-40B4-BE49-F238E27FC236}">
                  <a16:creationId xmlns:a16="http://schemas.microsoft.com/office/drawing/2014/main" id="{7C79C682-EBD6-2C8F-B745-D2096A6884B8}"/>
                </a:ext>
              </a:extLst>
            </p:cNvPr>
            <p:cNvSpPr/>
            <p:nvPr/>
          </p:nvSpPr>
          <p:spPr>
            <a:xfrm>
              <a:off x="5237956"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FFBF00"/>
            </a:solidFill>
          </p:spPr>
          <p:txBody>
            <a:bodyPr wrap="square" lIns="0" tIns="0" rIns="0" bIns="0" rtlCol="0"/>
            <a:lstStyle/>
            <a:p>
              <a:endParaRPr dirty="0"/>
            </a:p>
          </p:txBody>
        </p:sp>
        <p:sp>
          <p:nvSpPr>
            <p:cNvPr id="11" name="object 2">
              <a:extLst>
                <a:ext uri="{FF2B5EF4-FFF2-40B4-BE49-F238E27FC236}">
                  <a16:creationId xmlns:a16="http://schemas.microsoft.com/office/drawing/2014/main" id="{A3230CF1-8595-B6CB-2D2F-951DBB508F67}"/>
                </a:ext>
              </a:extLst>
            </p:cNvPr>
            <p:cNvSpPr/>
            <p:nvPr/>
          </p:nvSpPr>
          <p:spPr>
            <a:xfrm>
              <a:off x="10800556"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FFA100"/>
            </a:solidFill>
          </p:spPr>
          <p:txBody>
            <a:bodyPr wrap="square" lIns="0" tIns="0" rIns="0" bIns="0" rtlCol="0"/>
            <a:lstStyle/>
            <a:p>
              <a:endParaRPr dirty="0"/>
            </a:p>
          </p:txBody>
        </p:sp>
      </p:grpSp>
    </p:spTree>
    <p:extLst>
      <p:ext uri="{BB962C8B-B14F-4D97-AF65-F5344CB8AC3E}">
        <p14:creationId xmlns:p14="http://schemas.microsoft.com/office/powerpoint/2010/main" val="10765637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B8CFA72-5F33-A3D9-3A06-EA4FCC51653D}"/>
              </a:ext>
            </a:extLst>
          </p:cNvPr>
          <p:cNvSpPr>
            <a:spLocks noGrp="1"/>
          </p:cNvSpPr>
          <p:nvPr>
            <p:ph type="dt" sz="half" idx="10"/>
          </p:nvPr>
        </p:nvSpPr>
        <p:spPr/>
        <p:txBody>
          <a:bodyPr/>
          <a:lstStyle/>
          <a:p>
            <a:fld id="{EA8A1AFC-9F3B-438B-B10C-E9A9073FAD5F}" type="datetime1">
              <a:rPr lang="en-IN" smtClean="0"/>
              <a:t>28-10-2025</a:t>
            </a:fld>
            <a:endParaRPr lang="en-IN"/>
          </a:p>
        </p:txBody>
      </p:sp>
      <p:sp>
        <p:nvSpPr>
          <p:cNvPr id="3" name="Slide Number Placeholder 2">
            <a:extLst>
              <a:ext uri="{FF2B5EF4-FFF2-40B4-BE49-F238E27FC236}">
                <a16:creationId xmlns:a16="http://schemas.microsoft.com/office/drawing/2014/main" id="{1DADC7E1-9072-7A52-87BF-9C107ABB008D}"/>
              </a:ext>
            </a:extLst>
          </p:cNvPr>
          <p:cNvSpPr>
            <a:spLocks noGrp="1"/>
          </p:cNvSpPr>
          <p:nvPr>
            <p:ph type="sldNum" sz="quarter" idx="12"/>
          </p:nvPr>
        </p:nvSpPr>
        <p:spPr/>
        <p:txBody>
          <a:bodyPr/>
          <a:lstStyle/>
          <a:p>
            <a:fld id="{DCC7CF5C-16A0-4876-B638-15BC6385E45C}" type="slidenum">
              <a:rPr lang="en-IN" smtClean="0"/>
              <a:t>8</a:t>
            </a:fld>
            <a:endParaRPr lang="en-IN"/>
          </a:p>
        </p:txBody>
      </p:sp>
      <p:sp>
        <p:nvSpPr>
          <p:cNvPr id="4" name="Title 3">
            <a:extLst>
              <a:ext uri="{FF2B5EF4-FFF2-40B4-BE49-F238E27FC236}">
                <a16:creationId xmlns:a16="http://schemas.microsoft.com/office/drawing/2014/main" id="{9D6DF84C-9EA2-684B-16BE-125DD0094D08}"/>
              </a:ext>
            </a:extLst>
          </p:cNvPr>
          <p:cNvSpPr>
            <a:spLocks noGrp="1"/>
          </p:cNvSpPr>
          <p:nvPr>
            <p:ph type="title"/>
          </p:nvPr>
        </p:nvSpPr>
        <p:spPr/>
        <p:txBody>
          <a:bodyPr/>
          <a:lstStyle/>
          <a:p>
            <a:r>
              <a:rPr lang="en-IN" b="1" dirty="0">
                <a:latin typeface="Arial Rounded MT Bold" panose="020F0704030504030204" pitchFamily="34" charset="0"/>
              </a:rPr>
              <a:t>AI-Powered Threat Detection</a:t>
            </a:r>
            <a:br>
              <a:rPr lang="en-IN" b="1" dirty="0"/>
            </a:br>
            <a:endParaRPr lang="en-IN" dirty="0"/>
          </a:p>
        </p:txBody>
      </p:sp>
      <p:sp>
        <p:nvSpPr>
          <p:cNvPr id="5" name="Content Placeholder 4">
            <a:extLst>
              <a:ext uri="{FF2B5EF4-FFF2-40B4-BE49-F238E27FC236}">
                <a16:creationId xmlns:a16="http://schemas.microsoft.com/office/drawing/2014/main" id="{76637282-3EB6-8DDA-BA56-D53A4D706D46}"/>
              </a:ext>
            </a:extLst>
          </p:cNvPr>
          <p:cNvSpPr>
            <a:spLocks noGrp="1"/>
          </p:cNvSpPr>
          <p:nvPr>
            <p:ph idx="1"/>
          </p:nvPr>
        </p:nvSpPr>
        <p:spPr>
          <a:xfrm>
            <a:off x="1303045" y="2421733"/>
            <a:ext cx="16397287" cy="7634287"/>
          </a:xfrm>
        </p:spPr>
        <p:txBody>
          <a:bodyPr>
            <a:noAutofit/>
          </a:bodyPr>
          <a:lstStyle/>
          <a:p>
            <a:pPr>
              <a:buNone/>
            </a:pPr>
            <a:r>
              <a:rPr lang="en-IN" b="1" dirty="0"/>
              <a:t>Architecture:</a:t>
            </a:r>
          </a:p>
          <a:p>
            <a:pPr>
              <a:buFont typeface="+mj-lt"/>
              <a:buAutoNum type="arabicPeriod"/>
            </a:pPr>
            <a:r>
              <a:rPr lang="en-IN" b="1" dirty="0"/>
              <a:t>Data Collection:</a:t>
            </a:r>
            <a:r>
              <a:rPr lang="en-IN" dirty="0"/>
              <a:t> Uses the </a:t>
            </a:r>
            <a:r>
              <a:rPr lang="en-IN" b="1" dirty="0" err="1"/>
              <a:t>KDDTest</a:t>
            </a:r>
            <a:r>
              <a:rPr lang="en-IN" b="1" dirty="0"/>
              <a:t>+ dataset</a:t>
            </a:r>
            <a:r>
              <a:rPr lang="en-IN" dirty="0"/>
              <a:t> for network intrusion detection.</a:t>
            </a:r>
          </a:p>
          <a:p>
            <a:pPr>
              <a:buFont typeface="+mj-lt"/>
              <a:buAutoNum type="arabicPeriod"/>
            </a:pPr>
            <a:r>
              <a:rPr lang="en-IN" b="1" dirty="0"/>
              <a:t>Preprocessing:</a:t>
            </a:r>
            <a:endParaRPr lang="en-IN" dirty="0"/>
          </a:p>
          <a:p>
            <a:pPr marL="742950" lvl="1" indent="-285750">
              <a:buFont typeface="+mj-lt"/>
              <a:buAutoNum type="arabicPeriod"/>
            </a:pPr>
            <a:r>
              <a:rPr lang="en-IN" sz="2800" dirty="0"/>
              <a:t>Categorical feature encoding using </a:t>
            </a:r>
            <a:r>
              <a:rPr lang="en-IN" sz="2800" b="1" dirty="0"/>
              <a:t>Label Encoding</a:t>
            </a:r>
            <a:r>
              <a:rPr lang="en-IN" sz="2800" dirty="0"/>
              <a:t>.</a:t>
            </a:r>
          </a:p>
          <a:p>
            <a:pPr marL="742950" lvl="1" indent="-285750">
              <a:buFont typeface="+mj-lt"/>
              <a:buAutoNum type="arabicPeriod"/>
            </a:pPr>
            <a:r>
              <a:rPr lang="en-IN" sz="2800" dirty="0"/>
              <a:t>Feature scaling using </a:t>
            </a:r>
            <a:r>
              <a:rPr lang="en-IN" sz="2800" b="1" dirty="0" err="1"/>
              <a:t>StandardScaler</a:t>
            </a:r>
            <a:r>
              <a:rPr lang="en-IN" sz="2800" dirty="0"/>
              <a:t>.</a:t>
            </a:r>
          </a:p>
          <a:p>
            <a:pPr>
              <a:buFont typeface="+mj-lt"/>
              <a:buAutoNum type="arabicPeriod"/>
            </a:pPr>
            <a:r>
              <a:rPr lang="en-IN" b="1" dirty="0"/>
              <a:t>Model Training:</a:t>
            </a:r>
            <a:endParaRPr lang="en-IN" dirty="0"/>
          </a:p>
          <a:p>
            <a:pPr marL="742950" lvl="1" indent="-285750">
              <a:buFont typeface="+mj-lt"/>
              <a:buAutoNum type="arabicPeriod"/>
            </a:pPr>
            <a:r>
              <a:rPr lang="en-IN" sz="2800" b="1" dirty="0"/>
              <a:t>Random Forest Classifier</a:t>
            </a:r>
            <a:r>
              <a:rPr lang="en-IN" sz="2800" dirty="0"/>
              <a:t> for anomaly detection.</a:t>
            </a:r>
          </a:p>
          <a:p>
            <a:pPr marL="742950" lvl="1" indent="-285750">
              <a:buFont typeface="+mj-lt"/>
              <a:buAutoNum type="arabicPeriod"/>
            </a:pPr>
            <a:r>
              <a:rPr lang="en-IN" sz="2800" b="1" dirty="0"/>
              <a:t>Deep Neural Network (DNN)</a:t>
            </a:r>
            <a:r>
              <a:rPr lang="en-IN" sz="2800" dirty="0"/>
              <a:t> for improved accuracy.</a:t>
            </a:r>
          </a:p>
          <a:p>
            <a:pPr>
              <a:buFont typeface="+mj-lt"/>
              <a:buAutoNum type="arabicPeriod"/>
            </a:pPr>
            <a:r>
              <a:rPr lang="en-IN" b="1" dirty="0"/>
              <a:t>Evaluation:</a:t>
            </a:r>
            <a:endParaRPr lang="en-IN" dirty="0"/>
          </a:p>
          <a:p>
            <a:pPr marL="742950" lvl="1" indent="-285750">
              <a:buFont typeface="+mj-lt"/>
              <a:buAutoNum type="arabicPeriod"/>
            </a:pPr>
            <a:r>
              <a:rPr lang="en-IN" sz="2800" dirty="0"/>
              <a:t>Performance metrics: </a:t>
            </a:r>
            <a:r>
              <a:rPr lang="en-IN" sz="2800" b="1" dirty="0"/>
              <a:t>Accuracy, Precision, Recall, F1-score</a:t>
            </a:r>
            <a:r>
              <a:rPr lang="en-IN" sz="2800" dirty="0"/>
              <a:t>.</a:t>
            </a:r>
          </a:p>
          <a:p>
            <a:pPr>
              <a:buFont typeface="+mj-lt"/>
              <a:buAutoNum type="arabicPeriod"/>
            </a:pPr>
            <a:r>
              <a:rPr lang="en-IN" b="1" dirty="0"/>
              <a:t>Detection &amp; Alerting:</a:t>
            </a:r>
            <a:r>
              <a:rPr lang="en-IN" dirty="0"/>
              <a:t> Predicts whether network traffic is normal or an attack.</a:t>
            </a:r>
          </a:p>
          <a:p>
            <a:pPr>
              <a:buNone/>
            </a:pPr>
            <a:r>
              <a:rPr lang="en-IN" b="1" dirty="0"/>
              <a:t>Dataset:</a:t>
            </a:r>
          </a:p>
          <a:p>
            <a:pPr>
              <a:buFont typeface="Arial" panose="020B0604020202020204" pitchFamily="34" charset="0"/>
              <a:buChar char="•"/>
            </a:pPr>
            <a:r>
              <a:rPr lang="en-IN" b="1" dirty="0"/>
              <a:t>Name:</a:t>
            </a:r>
            <a:r>
              <a:rPr lang="en-IN" dirty="0"/>
              <a:t> </a:t>
            </a:r>
            <a:r>
              <a:rPr lang="en-IN" dirty="0" err="1"/>
              <a:t>KDDTest</a:t>
            </a:r>
            <a:r>
              <a:rPr lang="en-IN" dirty="0"/>
              <a:t>+ (KDD Cup 1999)</a:t>
            </a:r>
          </a:p>
          <a:p>
            <a:pPr>
              <a:buFont typeface="Arial" panose="020B0604020202020204" pitchFamily="34" charset="0"/>
              <a:buChar char="•"/>
            </a:pPr>
            <a:r>
              <a:rPr lang="en-IN" b="1" dirty="0"/>
              <a:t>Size:</a:t>
            </a:r>
            <a:r>
              <a:rPr lang="en-IN" dirty="0"/>
              <a:t> Over 125,000 network traffic records</a:t>
            </a:r>
          </a:p>
          <a:p>
            <a:pPr>
              <a:buFont typeface="Arial" panose="020B0604020202020204" pitchFamily="34" charset="0"/>
              <a:buChar char="•"/>
            </a:pPr>
            <a:r>
              <a:rPr lang="en-IN" b="1" dirty="0"/>
              <a:t>Attack Types:</a:t>
            </a:r>
            <a:r>
              <a:rPr lang="en-IN" dirty="0"/>
              <a:t> Denial-of-Service (DoS), Probe, R2L, U2R</a:t>
            </a:r>
          </a:p>
          <a:p>
            <a:pPr>
              <a:buFont typeface="Arial" panose="020B0604020202020204" pitchFamily="34" charset="0"/>
              <a:buChar char="•"/>
            </a:pPr>
            <a:r>
              <a:rPr lang="en-IN" b="1" dirty="0"/>
              <a:t>Classes:</a:t>
            </a:r>
            <a:r>
              <a:rPr lang="en-IN" dirty="0"/>
              <a:t> </a:t>
            </a:r>
            <a:r>
              <a:rPr lang="en-IN" b="1" dirty="0"/>
              <a:t>Normal (0) or Attack (1)</a:t>
            </a:r>
            <a:endParaRPr lang="en-IN" dirty="0"/>
          </a:p>
        </p:txBody>
      </p:sp>
      <p:grpSp>
        <p:nvGrpSpPr>
          <p:cNvPr id="6" name="Group 5">
            <a:extLst>
              <a:ext uri="{FF2B5EF4-FFF2-40B4-BE49-F238E27FC236}">
                <a16:creationId xmlns:a16="http://schemas.microsoft.com/office/drawing/2014/main" id="{04957354-AA4D-24D7-C8F9-8D578DF21512}"/>
              </a:ext>
            </a:extLst>
          </p:cNvPr>
          <p:cNvGrpSpPr/>
          <p:nvPr/>
        </p:nvGrpSpPr>
        <p:grpSpPr>
          <a:xfrm>
            <a:off x="0" y="0"/>
            <a:ext cx="19010313" cy="588943"/>
            <a:chOff x="-324644" y="2222500"/>
            <a:chExt cx="22261685" cy="1302327"/>
          </a:xfrm>
        </p:grpSpPr>
        <p:sp>
          <p:nvSpPr>
            <p:cNvPr id="7" name="object 2">
              <a:extLst>
                <a:ext uri="{FF2B5EF4-FFF2-40B4-BE49-F238E27FC236}">
                  <a16:creationId xmlns:a16="http://schemas.microsoft.com/office/drawing/2014/main" id="{758E1302-86AE-3B3A-FFED-45AAC7250884}"/>
                </a:ext>
              </a:extLst>
            </p:cNvPr>
            <p:cNvSpPr/>
            <p:nvPr/>
          </p:nvSpPr>
          <p:spPr>
            <a:xfrm>
              <a:off x="-324644"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009EF3"/>
            </a:solidFill>
          </p:spPr>
          <p:txBody>
            <a:bodyPr wrap="square" lIns="0" tIns="0" rIns="0" bIns="0" rtlCol="0"/>
            <a:lstStyle/>
            <a:p>
              <a:endParaRPr dirty="0"/>
            </a:p>
          </p:txBody>
        </p:sp>
        <p:sp>
          <p:nvSpPr>
            <p:cNvPr id="8" name="object 3">
              <a:extLst>
                <a:ext uri="{FF2B5EF4-FFF2-40B4-BE49-F238E27FC236}">
                  <a16:creationId xmlns:a16="http://schemas.microsoft.com/office/drawing/2014/main" id="{B40C81DF-4CF1-D2E5-9874-2EEBC3F84B72}"/>
                </a:ext>
              </a:extLst>
            </p:cNvPr>
            <p:cNvSpPr/>
            <p:nvPr/>
          </p:nvSpPr>
          <p:spPr>
            <a:xfrm>
              <a:off x="16363156" y="2222500"/>
              <a:ext cx="5573885" cy="1302327"/>
            </a:xfrm>
            <a:custGeom>
              <a:avLst/>
              <a:gdLst/>
              <a:ahLst/>
              <a:cxnLst/>
              <a:rect l="l" t="t" r="r" b="b"/>
              <a:pathLst>
                <a:path w="1883409" h="440055">
                  <a:moveTo>
                    <a:pt x="0" y="0"/>
                  </a:moveTo>
                  <a:lnTo>
                    <a:pt x="0" y="439737"/>
                  </a:lnTo>
                  <a:lnTo>
                    <a:pt x="1883155" y="439737"/>
                  </a:lnTo>
                  <a:lnTo>
                    <a:pt x="1883155" y="0"/>
                  </a:lnTo>
                  <a:lnTo>
                    <a:pt x="0" y="0"/>
                  </a:lnTo>
                  <a:close/>
                </a:path>
              </a:pathLst>
            </a:custGeom>
            <a:solidFill>
              <a:srgbClr val="FF8200"/>
            </a:solidFill>
          </p:spPr>
          <p:txBody>
            <a:bodyPr wrap="square" lIns="0" tIns="0" rIns="0" bIns="0" rtlCol="0"/>
            <a:lstStyle/>
            <a:p>
              <a:endParaRPr dirty="0"/>
            </a:p>
          </p:txBody>
        </p:sp>
        <p:sp>
          <p:nvSpPr>
            <p:cNvPr id="9" name="object 2">
              <a:extLst>
                <a:ext uri="{FF2B5EF4-FFF2-40B4-BE49-F238E27FC236}">
                  <a16:creationId xmlns:a16="http://schemas.microsoft.com/office/drawing/2014/main" id="{FC8E3DC8-263F-FEA0-0C27-32AB50BD17D9}"/>
                </a:ext>
              </a:extLst>
            </p:cNvPr>
            <p:cNvSpPr/>
            <p:nvPr/>
          </p:nvSpPr>
          <p:spPr>
            <a:xfrm>
              <a:off x="5237956"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FFBF00"/>
            </a:solidFill>
          </p:spPr>
          <p:txBody>
            <a:bodyPr wrap="square" lIns="0" tIns="0" rIns="0" bIns="0" rtlCol="0"/>
            <a:lstStyle/>
            <a:p>
              <a:endParaRPr dirty="0"/>
            </a:p>
          </p:txBody>
        </p:sp>
        <p:sp>
          <p:nvSpPr>
            <p:cNvPr id="10" name="object 2">
              <a:extLst>
                <a:ext uri="{FF2B5EF4-FFF2-40B4-BE49-F238E27FC236}">
                  <a16:creationId xmlns:a16="http://schemas.microsoft.com/office/drawing/2014/main" id="{2BF62C3F-8819-FEBA-0B36-B7D91B7AE8D0}"/>
                </a:ext>
              </a:extLst>
            </p:cNvPr>
            <p:cNvSpPr/>
            <p:nvPr/>
          </p:nvSpPr>
          <p:spPr>
            <a:xfrm>
              <a:off x="10800556"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FFA100"/>
            </a:solidFill>
          </p:spPr>
          <p:txBody>
            <a:bodyPr wrap="square" lIns="0" tIns="0" rIns="0" bIns="0" rtlCol="0"/>
            <a:lstStyle/>
            <a:p>
              <a:endParaRPr dirty="0"/>
            </a:p>
          </p:txBody>
        </p:sp>
      </p:grpSp>
    </p:spTree>
    <p:extLst>
      <p:ext uri="{BB962C8B-B14F-4D97-AF65-F5344CB8AC3E}">
        <p14:creationId xmlns:p14="http://schemas.microsoft.com/office/powerpoint/2010/main" val="13667487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3D39A6-5204-92BB-EE68-6E6891AD0713}"/>
              </a:ext>
            </a:extLst>
          </p:cNvPr>
          <p:cNvSpPr>
            <a:spLocks noGrp="1"/>
          </p:cNvSpPr>
          <p:nvPr>
            <p:ph type="dt" sz="half" idx="10"/>
          </p:nvPr>
        </p:nvSpPr>
        <p:spPr/>
        <p:txBody>
          <a:bodyPr/>
          <a:lstStyle/>
          <a:p>
            <a:fld id="{EA8A1AFC-9F3B-438B-B10C-E9A9073FAD5F}" type="datetime1">
              <a:rPr lang="en-IN" smtClean="0"/>
              <a:t>28-10-2025</a:t>
            </a:fld>
            <a:endParaRPr lang="en-IN"/>
          </a:p>
        </p:txBody>
      </p:sp>
      <p:sp>
        <p:nvSpPr>
          <p:cNvPr id="3" name="Slide Number Placeholder 2">
            <a:extLst>
              <a:ext uri="{FF2B5EF4-FFF2-40B4-BE49-F238E27FC236}">
                <a16:creationId xmlns:a16="http://schemas.microsoft.com/office/drawing/2014/main" id="{5E9220AA-7394-BD88-7BF2-D93C0A004CD4}"/>
              </a:ext>
            </a:extLst>
          </p:cNvPr>
          <p:cNvSpPr>
            <a:spLocks noGrp="1"/>
          </p:cNvSpPr>
          <p:nvPr>
            <p:ph type="sldNum" sz="quarter" idx="12"/>
          </p:nvPr>
        </p:nvSpPr>
        <p:spPr/>
        <p:txBody>
          <a:bodyPr/>
          <a:lstStyle/>
          <a:p>
            <a:fld id="{DCC7CF5C-16A0-4876-B638-15BC6385E45C}" type="slidenum">
              <a:rPr lang="en-IN" smtClean="0"/>
              <a:t>9</a:t>
            </a:fld>
            <a:endParaRPr lang="en-IN" dirty="0"/>
          </a:p>
        </p:txBody>
      </p:sp>
      <p:sp>
        <p:nvSpPr>
          <p:cNvPr id="4" name="Title 3">
            <a:extLst>
              <a:ext uri="{FF2B5EF4-FFF2-40B4-BE49-F238E27FC236}">
                <a16:creationId xmlns:a16="http://schemas.microsoft.com/office/drawing/2014/main" id="{3AC745C9-3D17-14C5-92B1-BFCF95D83F53}"/>
              </a:ext>
            </a:extLst>
          </p:cNvPr>
          <p:cNvSpPr>
            <a:spLocks noGrp="1"/>
          </p:cNvSpPr>
          <p:nvPr>
            <p:ph type="title"/>
          </p:nvPr>
        </p:nvSpPr>
        <p:spPr>
          <a:xfrm>
            <a:off x="1306512" y="594172"/>
            <a:ext cx="16397287" cy="1698646"/>
          </a:xfrm>
        </p:spPr>
        <p:txBody>
          <a:bodyPr/>
          <a:lstStyle/>
          <a:p>
            <a:r>
              <a:rPr lang="en-IN" b="1" dirty="0">
                <a:latin typeface="Arial Rounded MT Bold" panose="020F0704030504030204" pitchFamily="34" charset="0"/>
              </a:rPr>
              <a:t>Malware Detection</a:t>
            </a:r>
          </a:p>
        </p:txBody>
      </p:sp>
      <p:pic>
        <p:nvPicPr>
          <p:cNvPr id="1026" name="Picture 2" descr="image">
            <a:extLst>
              <a:ext uri="{FF2B5EF4-FFF2-40B4-BE49-F238E27FC236}">
                <a16:creationId xmlns:a16="http://schemas.microsoft.com/office/drawing/2014/main" id="{9CB05A63-40FA-90E6-A9ED-5235F9ED2F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80820" y="4987529"/>
            <a:ext cx="5748249" cy="5471739"/>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3">
            <a:extLst>
              <a:ext uri="{FF2B5EF4-FFF2-40B4-BE49-F238E27FC236}">
                <a16:creationId xmlns:a16="http://schemas.microsoft.com/office/drawing/2014/main" id="{FF21E849-903D-EFAD-7C72-D3991B16514A}"/>
              </a:ext>
            </a:extLst>
          </p:cNvPr>
          <p:cNvSpPr>
            <a:spLocks noGrp="1" noChangeArrowheads="1"/>
          </p:cNvSpPr>
          <p:nvPr>
            <p:ph idx="1"/>
          </p:nvPr>
        </p:nvSpPr>
        <p:spPr bwMode="auto">
          <a:xfrm>
            <a:off x="864196" y="2395241"/>
            <a:ext cx="12015067" cy="3016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chemeClr val="tx1"/>
                </a:solidFill>
                <a:effectLst/>
                <a:cs typeface="Arial" panose="020B0604020202020204" pitchFamily="34" charset="0"/>
              </a:rPr>
              <a:t>Architecture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cs typeface="Arial" panose="020B0604020202020204" pitchFamily="34" charset="0"/>
              </a:rPr>
              <a:t>The system takes URLs and Portable Executables (PE) as input.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cs typeface="Arial" panose="020B0604020202020204" pitchFamily="34" charset="0"/>
              </a:rPr>
              <a:t>It extracts features from these inputs for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cs typeface="Arial" panose="020B0604020202020204" pitchFamily="34" charset="0"/>
              </a:rPr>
              <a:t>Machine learning models are trained to classify malware vs. benign instances.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cs typeface="Arial" panose="020B0604020202020204" pitchFamily="34" charset="0"/>
              </a:rPr>
              <a:t>The system provides real-time detection and alerts based on model predictions.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nvGrpSpPr>
          <p:cNvPr id="5" name="Group 4">
            <a:extLst>
              <a:ext uri="{FF2B5EF4-FFF2-40B4-BE49-F238E27FC236}">
                <a16:creationId xmlns:a16="http://schemas.microsoft.com/office/drawing/2014/main" id="{0AE2687F-747B-C570-8188-F3471AC8713A}"/>
              </a:ext>
            </a:extLst>
          </p:cNvPr>
          <p:cNvGrpSpPr/>
          <p:nvPr/>
        </p:nvGrpSpPr>
        <p:grpSpPr>
          <a:xfrm>
            <a:off x="0" y="0"/>
            <a:ext cx="19010313" cy="588943"/>
            <a:chOff x="-324644" y="2222500"/>
            <a:chExt cx="22261685" cy="1302327"/>
          </a:xfrm>
        </p:grpSpPr>
        <p:sp>
          <p:nvSpPr>
            <p:cNvPr id="7" name="object 2">
              <a:extLst>
                <a:ext uri="{FF2B5EF4-FFF2-40B4-BE49-F238E27FC236}">
                  <a16:creationId xmlns:a16="http://schemas.microsoft.com/office/drawing/2014/main" id="{3EA5580C-89B5-2FF1-2323-B9D4BF60E7F9}"/>
                </a:ext>
              </a:extLst>
            </p:cNvPr>
            <p:cNvSpPr/>
            <p:nvPr/>
          </p:nvSpPr>
          <p:spPr>
            <a:xfrm>
              <a:off x="-324644"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009EF3"/>
            </a:solidFill>
          </p:spPr>
          <p:txBody>
            <a:bodyPr wrap="square" lIns="0" tIns="0" rIns="0" bIns="0" rtlCol="0"/>
            <a:lstStyle/>
            <a:p>
              <a:endParaRPr dirty="0"/>
            </a:p>
          </p:txBody>
        </p:sp>
        <p:sp>
          <p:nvSpPr>
            <p:cNvPr id="8" name="object 3">
              <a:extLst>
                <a:ext uri="{FF2B5EF4-FFF2-40B4-BE49-F238E27FC236}">
                  <a16:creationId xmlns:a16="http://schemas.microsoft.com/office/drawing/2014/main" id="{390EF0E9-851C-F783-9352-9F68D552145F}"/>
                </a:ext>
              </a:extLst>
            </p:cNvPr>
            <p:cNvSpPr/>
            <p:nvPr/>
          </p:nvSpPr>
          <p:spPr>
            <a:xfrm>
              <a:off x="16363156" y="2222500"/>
              <a:ext cx="5573885" cy="1302327"/>
            </a:xfrm>
            <a:custGeom>
              <a:avLst/>
              <a:gdLst/>
              <a:ahLst/>
              <a:cxnLst/>
              <a:rect l="l" t="t" r="r" b="b"/>
              <a:pathLst>
                <a:path w="1883409" h="440055">
                  <a:moveTo>
                    <a:pt x="0" y="0"/>
                  </a:moveTo>
                  <a:lnTo>
                    <a:pt x="0" y="439737"/>
                  </a:lnTo>
                  <a:lnTo>
                    <a:pt x="1883155" y="439737"/>
                  </a:lnTo>
                  <a:lnTo>
                    <a:pt x="1883155" y="0"/>
                  </a:lnTo>
                  <a:lnTo>
                    <a:pt x="0" y="0"/>
                  </a:lnTo>
                  <a:close/>
                </a:path>
              </a:pathLst>
            </a:custGeom>
            <a:solidFill>
              <a:srgbClr val="FF8200"/>
            </a:solidFill>
          </p:spPr>
          <p:txBody>
            <a:bodyPr wrap="square" lIns="0" tIns="0" rIns="0" bIns="0" rtlCol="0"/>
            <a:lstStyle/>
            <a:p>
              <a:endParaRPr dirty="0"/>
            </a:p>
          </p:txBody>
        </p:sp>
        <p:sp>
          <p:nvSpPr>
            <p:cNvPr id="9" name="object 2">
              <a:extLst>
                <a:ext uri="{FF2B5EF4-FFF2-40B4-BE49-F238E27FC236}">
                  <a16:creationId xmlns:a16="http://schemas.microsoft.com/office/drawing/2014/main" id="{6096C74D-D0BD-D6C2-C180-D56B9CF80AE6}"/>
                </a:ext>
              </a:extLst>
            </p:cNvPr>
            <p:cNvSpPr/>
            <p:nvPr/>
          </p:nvSpPr>
          <p:spPr>
            <a:xfrm>
              <a:off x="5237956"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FFBF00"/>
            </a:solidFill>
          </p:spPr>
          <p:txBody>
            <a:bodyPr wrap="square" lIns="0" tIns="0" rIns="0" bIns="0" rtlCol="0"/>
            <a:lstStyle/>
            <a:p>
              <a:endParaRPr dirty="0"/>
            </a:p>
          </p:txBody>
        </p:sp>
        <p:sp>
          <p:nvSpPr>
            <p:cNvPr id="10" name="object 2">
              <a:extLst>
                <a:ext uri="{FF2B5EF4-FFF2-40B4-BE49-F238E27FC236}">
                  <a16:creationId xmlns:a16="http://schemas.microsoft.com/office/drawing/2014/main" id="{8E2E35FF-2BC8-53A4-51B3-142DF2F1A18A}"/>
                </a:ext>
              </a:extLst>
            </p:cNvPr>
            <p:cNvSpPr/>
            <p:nvPr/>
          </p:nvSpPr>
          <p:spPr>
            <a:xfrm>
              <a:off x="10800556"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FFA100"/>
            </a:solidFill>
          </p:spPr>
          <p:txBody>
            <a:bodyPr wrap="square" lIns="0" tIns="0" rIns="0" bIns="0" rtlCol="0"/>
            <a:lstStyle/>
            <a:p>
              <a:endParaRPr dirty="0"/>
            </a:p>
          </p:txBody>
        </p:sp>
      </p:grpSp>
    </p:spTree>
    <p:extLst>
      <p:ext uri="{BB962C8B-B14F-4D97-AF65-F5344CB8AC3E}">
        <p14:creationId xmlns:p14="http://schemas.microsoft.com/office/powerpoint/2010/main" val="30306279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D29F11-6826-2DCF-C2F0-5DCB8FFFA5D3}"/>
              </a:ext>
            </a:extLst>
          </p:cNvPr>
          <p:cNvSpPr>
            <a:spLocks noGrp="1"/>
          </p:cNvSpPr>
          <p:nvPr>
            <p:ph type="dt" sz="half" idx="10"/>
          </p:nvPr>
        </p:nvSpPr>
        <p:spPr/>
        <p:txBody>
          <a:bodyPr/>
          <a:lstStyle/>
          <a:p>
            <a:fld id="{EA8A1AFC-9F3B-438B-B10C-E9A9073FAD5F}" type="datetime1">
              <a:rPr lang="en-IN" smtClean="0"/>
              <a:t>28-10-2025</a:t>
            </a:fld>
            <a:endParaRPr lang="en-IN"/>
          </a:p>
        </p:txBody>
      </p:sp>
      <p:sp>
        <p:nvSpPr>
          <p:cNvPr id="3" name="Slide Number Placeholder 2">
            <a:extLst>
              <a:ext uri="{FF2B5EF4-FFF2-40B4-BE49-F238E27FC236}">
                <a16:creationId xmlns:a16="http://schemas.microsoft.com/office/drawing/2014/main" id="{D63199AE-9235-C341-3175-0C6A95025C96}"/>
              </a:ext>
            </a:extLst>
          </p:cNvPr>
          <p:cNvSpPr>
            <a:spLocks noGrp="1"/>
          </p:cNvSpPr>
          <p:nvPr>
            <p:ph type="sldNum" sz="quarter" idx="12"/>
          </p:nvPr>
        </p:nvSpPr>
        <p:spPr/>
        <p:txBody>
          <a:bodyPr/>
          <a:lstStyle/>
          <a:p>
            <a:fld id="{DCC7CF5C-16A0-4876-B638-15BC6385E45C}" type="slidenum">
              <a:rPr lang="en-IN" smtClean="0"/>
              <a:t>10</a:t>
            </a:fld>
            <a:endParaRPr lang="en-IN"/>
          </a:p>
        </p:txBody>
      </p:sp>
      <p:sp>
        <p:nvSpPr>
          <p:cNvPr id="5" name="Content Placeholder 4">
            <a:extLst>
              <a:ext uri="{FF2B5EF4-FFF2-40B4-BE49-F238E27FC236}">
                <a16:creationId xmlns:a16="http://schemas.microsoft.com/office/drawing/2014/main" id="{A7DFD8DF-C278-B455-AE0C-34C508EE971A}"/>
              </a:ext>
            </a:extLst>
          </p:cNvPr>
          <p:cNvSpPr>
            <a:spLocks noGrp="1"/>
          </p:cNvSpPr>
          <p:nvPr>
            <p:ph idx="1"/>
          </p:nvPr>
        </p:nvSpPr>
        <p:spPr>
          <a:xfrm>
            <a:off x="1306513" y="882204"/>
            <a:ext cx="16983619" cy="8749159"/>
          </a:xfrm>
        </p:spPr>
        <p:txBody>
          <a:bodyPr>
            <a:normAutofit fontScale="92500" lnSpcReduction="20000"/>
          </a:bodyPr>
          <a:lstStyle/>
          <a:p>
            <a:pPr marL="0" indent="0">
              <a:buNone/>
            </a:pPr>
            <a:r>
              <a:rPr lang="en-IN" dirty="0"/>
              <a:t>1) </a:t>
            </a:r>
            <a:r>
              <a:rPr lang="en-IN" b="1" dirty="0"/>
              <a:t>Live URL Scanner (</a:t>
            </a:r>
            <a:r>
              <a:rPr lang="en-IN" b="1" dirty="0" err="1"/>
              <a:t>VirusTotal</a:t>
            </a:r>
            <a:r>
              <a:rPr lang="en-IN" b="1" dirty="0"/>
              <a:t> Integration)</a:t>
            </a:r>
          </a:p>
          <a:p>
            <a:pPr marL="0" indent="0">
              <a:buNone/>
            </a:pPr>
            <a:r>
              <a:rPr lang="en-IN" b="1" dirty="0"/>
              <a:t>Input</a:t>
            </a:r>
            <a:r>
              <a:rPr lang="en-IN" dirty="0"/>
              <a:t>: User enters a URL (e.g., website link)</a:t>
            </a:r>
          </a:p>
          <a:p>
            <a:pPr marL="0" indent="0">
              <a:buNone/>
            </a:pPr>
            <a:r>
              <a:rPr lang="en-IN" b="1" dirty="0"/>
              <a:t>Process</a:t>
            </a:r>
            <a:r>
              <a:rPr lang="en-IN" dirty="0"/>
              <a:t>: The system sends the URL to </a:t>
            </a:r>
            <a:r>
              <a:rPr lang="en-IN" dirty="0" err="1"/>
              <a:t>VirusTotal</a:t>
            </a:r>
            <a:r>
              <a:rPr lang="en-IN" dirty="0"/>
              <a:t> API using a POST request.</a:t>
            </a:r>
          </a:p>
          <a:p>
            <a:pPr marL="0" indent="0">
              <a:buNone/>
            </a:pPr>
            <a:r>
              <a:rPr lang="en-IN" dirty="0"/>
              <a:t>                 A unique analysis ID is generated and polled until the scan completes.</a:t>
            </a:r>
          </a:p>
          <a:p>
            <a:pPr marL="0" indent="0">
              <a:buNone/>
            </a:pPr>
            <a:r>
              <a:rPr lang="en-IN" b="1" dirty="0"/>
              <a:t>Output</a:t>
            </a:r>
            <a:r>
              <a:rPr lang="en-IN" dirty="0"/>
              <a:t>: Real-time scan verdict:</a:t>
            </a:r>
          </a:p>
          <a:p>
            <a:pPr marL="0" indent="0">
              <a:buNone/>
            </a:pPr>
            <a:r>
              <a:rPr lang="en-IN" dirty="0"/>
              <a:t>                                       🔴 Malicious</a:t>
            </a:r>
          </a:p>
          <a:p>
            <a:pPr marL="0" indent="0">
              <a:buNone/>
            </a:pPr>
            <a:r>
              <a:rPr lang="en-IN" dirty="0"/>
              <a:t>                                       🟡 Suspicious</a:t>
            </a:r>
          </a:p>
          <a:p>
            <a:pPr marL="0" indent="0">
              <a:buNone/>
            </a:pPr>
            <a:r>
              <a:rPr lang="en-IN" dirty="0"/>
              <a:t>                                       🟢 Harmless</a:t>
            </a:r>
          </a:p>
          <a:p>
            <a:pPr marL="0" indent="0">
              <a:buNone/>
            </a:pPr>
            <a:r>
              <a:rPr lang="en-IN" dirty="0"/>
              <a:t>Displays scan stats and classification results within the app.</a:t>
            </a:r>
          </a:p>
          <a:p>
            <a:pPr marL="0" indent="0">
              <a:buNone/>
            </a:pPr>
            <a:r>
              <a:rPr lang="en-IN" b="1" dirty="0"/>
              <a:t>Use Case</a:t>
            </a:r>
            <a:r>
              <a:rPr lang="en-IN" dirty="0"/>
              <a:t>: Detect phishing websites, harmful redirects, and domains hosting malware.</a:t>
            </a:r>
          </a:p>
          <a:p>
            <a:pPr marL="0" indent="0">
              <a:buNone/>
            </a:pPr>
            <a:r>
              <a:rPr lang="en-IN" b="1" dirty="0"/>
              <a:t>Security</a:t>
            </a:r>
            <a:r>
              <a:rPr lang="en-IN" dirty="0"/>
              <a:t>: Only metadata is sent; URLs are not stored.</a:t>
            </a:r>
          </a:p>
          <a:p>
            <a:pPr marL="0" indent="0">
              <a:buNone/>
            </a:pPr>
            <a:endParaRPr lang="en-IN" dirty="0"/>
          </a:p>
          <a:p>
            <a:pPr marL="0" indent="0">
              <a:buNone/>
            </a:pPr>
            <a:r>
              <a:rPr lang="en-IN" dirty="0"/>
              <a:t>2) </a:t>
            </a:r>
            <a:r>
              <a:rPr lang="en-IN" b="1" dirty="0"/>
              <a:t>PE File Scanner</a:t>
            </a:r>
          </a:p>
          <a:p>
            <a:pPr marL="0" indent="0">
              <a:buNone/>
            </a:pPr>
            <a:r>
              <a:rPr lang="en-IN" b="1" dirty="0"/>
              <a:t>Input: </a:t>
            </a:r>
            <a:r>
              <a:rPr lang="en-IN" dirty="0"/>
              <a:t>User uploads a PE file (.exe or .</a:t>
            </a:r>
            <a:r>
              <a:rPr lang="en-IN" dirty="0" err="1"/>
              <a:t>dll</a:t>
            </a:r>
            <a:r>
              <a:rPr lang="en-IN" dirty="0"/>
              <a:t>)Process:</a:t>
            </a:r>
          </a:p>
          <a:p>
            <a:pPr marL="0" indent="0">
              <a:buNone/>
            </a:pPr>
            <a:r>
              <a:rPr lang="en-IN" dirty="0"/>
              <a:t>Static features (predefined list) are simulated/generated for demo.</a:t>
            </a:r>
          </a:p>
          <a:p>
            <a:pPr marL="0" indent="0">
              <a:buNone/>
            </a:pPr>
            <a:r>
              <a:rPr lang="en-IN" dirty="0"/>
              <a:t>Loaded into a trained Random Forest model for classification.</a:t>
            </a:r>
          </a:p>
          <a:p>
            <a:pPr marL="0" indent="0">
              <a:buNone/>
            </a:pPr>
            <a:r>
              <a:rPr lang="en-IN" dirty="0"/>
              <a:t>Output:🔴 Malicious if threat is detected</a:t>
            </a:r>
          </a:p>
          <a:p>
            <a:pPr marL="0" indent="0">
              <a:buNone/>
            </a:pPr>
            <a:r>
              <a:rPr lang="en-IN" dirty="0"/>
              <a:t>              ✅ Benign if safe</a:t>
            </a:r>
          </a:p>
          <a:p>
            <a:pPr marL="0" indent="0">
              <a:buNone/>
            </a:pPr>
            <a:r>
              <a:rPr lang="en-IN" dirty="0"/>
              <a:t>Use Case: Detect trojans, worms, or spyware in executable files.</a:t>
            </a:r>
          </a:p>
          <a:p>
            <a:pPr marL="0" indent="0">
              <a:buNone/>
            </a:pPr>
            <a:r>
              <a:rPr lang="en-IN" dirty="0"/>
              <a:t>Note: In a full implementation, a static/dynamic feature extractor would replace the placeholder </a:t>
            </a:r>
          </a:p>
        </p:txBody>
      </p:sp>
      <p:grpSp>
        <p:nvGrpSpPr>
          <p:cNvPr id="4" name="Group 3">
            <a:extLst>
              <a:ext uri="{FF2B5EF4-FFF2-40B4-BE49-F238E27FC236}">
                <a16:creationId xmlns:a16="http://schemas.microsoft.com/office/drawing/2014/main" id="{D98F2757-A18F-14C5-77A6-6797455699D7}"/>
              </a:ext>
            </a:extLst>
          </p:cNvPr>
          <p:cNvGrpSpPr/>
          <p:nvPr/>
        </p:nvGrpSpPr>
        <p:grpSpPr>
          <a:xfrm>
            <a:off x="0" y="0"/>
            <a:ext cx="19010313" cy="588943"/>
            <a:chOff x="-324644" y="2222500"/>
            <a:chExt cx="22261685" cy="1302327"/>
          </a:xfrm>
        </p:grpSpPr>
        <p:sp>
          <p:nvSpPr>
            <p:cNvPr id="6" name="object 2">
              <a:extLst>
                <a:ext uri="{FF2B5EF4-FFF2-40B4-BE49-F238E27FC236}">
                  <a16:creationId xmlns:a16="http://schemas.microsoft.com/office/drawing/2014/main" id="{F5EF9FDB-E2FC-23B3-874B-99F2004A538C}"/>
                </a:ext>
              </a:extLst>
            </p:cNvPr>
            <p:cNvSpPr/>
            <p:nvPr/>
          </p:nvSpPr>
          <p:spPr>
            <a:xfrm>
              <a:off x="-324644"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009EF3"/>
            </a:solidFill>
          </p:spPr>
          <p:txBody>
            <a:bodyPr wrap="square" lIns="0" tIns="0" rIns="0" bIns="0" rtlCol="0"/>
            <a:lstStyle/>
            <a:p>
              <a:endParaRPr dirty="0"/>
            </a:p>
          </p:txBody>
        </p:sp>
        <p:sp>
          <p:nvSpPr>
            <p:cNvPr id="7" name="object 3">
              <a:extLst>
                <a:ext uri="{FF2B5EF4-FFF2-40B4-BE49-F238E27FC236}">
                  <a16:creationId xmlns:a16="http://schemas.microsoft.com/office/drawing/2014/main" id="{B80BB492-EA5F-BB3A-C8C8-7D63D65598FB}"/>
                </a:ext>
              </a:extLst>
            </p:cNvPr>
            <p:cNvSpPr/>
            <p:nvPr/>
          </p:nvSpPr>
          <p:spPr>
            <a:xfrm>
              <a:off x="16363156" y="2222500"/>
              <a:ext cx="5573885" cy="1302327"/>
            </a:xfrm>
            <a:custGeom>
              <a:avLst/>
              <a:gdLst/>
              <a:ahLst/>
              <a:cxnLst/>
              <a:rect l="l" t="t" r="r" b="b"/>
              <a:pathLst>
                <a:path w="1883409" h="440055">
                  <a:moveTo>
                    <a:pt x="0" y="0"/>
                  </a:moveTo>
                  <a:lnTo>
                    <a:pt x="0" y="439737"/>
                  </a:lnTo>
                  <a:lnTo>
                    <a:pt x="1883155" y="439737"/>
                  </a:lnTo>
                  <a:lnTo>
                    <a:pt x="1883155" y="0"/>
                  </a:lnTo>
                  <a:lnTo>
                    <a:pt x="0" y="0"/>
                  </a:lnTo>
                  <a:close/>
                </a:path>
              </a:pathLst>
            </a:custGeom>
            <a:solidFill>
              <a:srgbClr val="FF8200"/>
            </a:solidFill>
          </p:spPr>
          <p:txBody>
            <a:bodyPr wrap="square" lIns="0" tIns="0" rIns="0" bIns="0" rtlCol="0"/>
            <a:lstStyle/>
            <a:p>
              <a:endParaRPr dirty="0"/>
            </a:p>
          </p:txBody>
        </p:sp>
        <p:sp>
          <p:nvSpPr>
            <p:cNvPr id="8" name="object 2">
              <a:extLst>
                <a:ext uri="{FF2B5EF4-FFF2-40B4-BE49-F238E27FC236}">
                  <a16:creationId xmlns:a16="http://schemas.microsoft.com/office/drawing/2014/main" id="{8C29BA90-E2B0-3EC2-16BA-5217DB0B2134}"/>
                </a:ext>
              </a:extLst>
            </p:cNvPr>
            <p:cNvSpPr/>
            <p:nvPr/>
          </p:nvSpPr>
          <p:spPr>
            <a:xfrm>
              <a:off x="5237956"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FFBF00"/>
            </a:solidFill>
          </p:spPr>
          <p:txBody>
            <a:bodyPr wrap="square" lIns="0" tIns="0" rIns="0" bIns="0" rtlCol="0"/>
            <a:lstStyle/>
            <a:p>
              <a:endParaRPr dirty="0"/>
            </a:p>
          </p:txBody>
        </p:sp>
        <p:sp>
          <p:nvSpPr>
            <p:cNvPr id="9" name="object 2">
              <a:extLst>
                <a:ext uri="{FF2B5EF4-FFF2-40B4-BE49-F238E27FC236}">
                  <a16:creationId xmlns:a16="http://schemas.microsoft.com/office/drawing/2014/main" id="{ED32CDED-8857-F4AE-02CA-27F00BD0A055}"/>
                </a:ext>
              </a:extLst>
            </p:cNvPr>
            <p:cNvSpPr/>
            <p:nvPr/>
          </p:nvSpPr>
          <p:spPr>
            <a:xfrm>
              <a:off x="10800556"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FFA100"/>
            </a:solidFill>
          </p:spPr>
          <p:txBody>
            <a:bodyPr wrap="square" lIns="0" tIns="0" rIns="0" bIns="0" rtlCol="0"/>
            <a:lstStyle/>
            <a:p>
              <a:endParaRPr dirty="0"/>
            </a:p>
          </p:txBody>
        </p:sp>
      </p:grpSp>
    </p:spTree>
    <p:extLst>
      <p:ext uri="{BB962C8B-B14F-4D97-AF65-F5344CB8AC3E}">
        <p14:creationId xmlns:p14="http://schemas.microsoft.com/office/powerpoint/2010/main" val="10369977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D1EAD31-4845-F215-DD6A-9362E577F2BB}"/>
              </a:ext>
            </a:extLst>
          </p:cNvPr>
          <p:cNvSpPr>
            <a:spLocks noGrp="1"/>
          </p:cNvSpPr>
          <p:nvPr>
            <p:ph type="dt" sz="half" idx="10"/>
          </p:nvPr>
        </p:nvSpPr>
        <p:spPr/>
        <p:txBody>
          <a:bodyPr/>
          <a:lstStyle/>
          <a:p>
            <a:fld id="{EA8A1AFC-9F3B-438B-B10C-E9A9073FAD5F}" type="datetime1">
              <a:rPr lang="en-IN" smtClean="0"/>
              <a:t>28-10-2025</a:t>
            </a:fld>
            <a:endParaRPr lang="en-IN"/>
          </a:p>
        </p:txBody>
      </p:sp>
      <p:sp>
        <p:nvSpPr>
          <p:cNvPr id="3" name="Slide Number Placeholder 2">
            <a:extLst>
              <a:ext uri="{FF2B5EF4-FFF2-40B4-BE49-F238E27FC236}">
                <a16:creationId xmlns:a16="http://schemas.microsoft.com/office/drawing/2014/main" id="{144F3F62-910E-4647-3E24-13A174CCD7FB}"/>
              </a:ext>
            </a:extLst>
          </p:cNvPr>
          <p:cNvSpPr>
            <a:spLocks noGrp="1"/>
          </p:cNvSpPr>
          <p:nvPr>
            <p:ph type="sldNum" sz="quarter" idx="12"/>
          </p:nvPr>
        </p:nvSpPr>
        <p:spPr/>
        <p:txBody>
          <a:bodyPr/>
          <a:lstStyle/>
          <a:p>
            <a:fld id="{DCC7CF5C-16A0-4876-B638-15BC6385E45C}" type="slidenum">
              <a:rPr lang="en-IN" smtClean="0"/>
              <a:t>11</a:t>
            </a:fld>
            <a:endParaRPr lang="en-IN"/>
          </a:p>
        </p:txBody>
      </p:sp>
      <p:sp>
        <p:nvSpPr>
          <p:cNvPr id="4" name="Title 3">
            <a:extLst>
              <a:ext uri="{FF2B5EF4-FFF2-40B4-BE49-F238E27FC236}">
                <a16:creationId xmlns:a16="http://schemas.microsoft.com/office/drawing/2014/main" id="{C4F45426-0AEC-36DD-9F12-7E231DFAC0E9}"/>
              </a:ext>
            </a:extLst>
          </p:cNvPr>
          <p:cNvSpPr>
            <a:spLocks noGrp="1"/>
          </p:cNvSpPr>
          <p:nvPr>
            <p:ph type="title"/>
          </p:nvPr>
        </p:nvSpPr>
        <p:spPr/>
        <p:txBody>
          <a:bodyPr/>
          <a:lstStyle/>
          <a:p>
            <a:r>
              <a:rPr lang="en-IN" dirty="0">
                <a:latin typeface="Arial Rounded MT Bold" panose="020F0704030504030204" pitchFamily="34" charset="0"/>
              </a:rPr>
              <a:t>File Hash Scanner</a:t>
            </a:r>
          </a:p>
        </p:txBody>
      </p:sp>
      <p:sp>
        <p:nvSpPr>
          <p:cNvPr id="5" name="Content Placeholder 4">
            <a:extLst>
              <a:ext uri="{FF2B5EF4-FFF2-40B4-BE49-F238E27FC236}">
                <a16:creationId xmlns:a16="http://schemas.microsoft.com/office/drawing/2014/main" id="{27257712-02DD-4737-B68A-F89639A7C1E5}"/>
              </a:ext>
            </a:extLst>
          </p:cNvPr>
          <p:cNvSpPr>
            <a:spLocks noGrp="1"/>
          </p:cNvSpPr>
          <p:nvPr>
            <p:ph idx="1"/>
          </p:nvPr>
        </p:nvSpPr>
        <p:spPr>
          <a:xfrm>
            <a:off x="1306513" y="2846388"/>
            <a:ext cx="16397287" cy="7324848"/>
          </a:xfrm>
        </p:spPr>
        <p:txBody>
          <a:bodyPr>
            <a:normAutofit fontScale="92500" lnSpcReduction="20000"/>
          </a:bodyPr>
          <a:lstStyle/>
          <a:p>
            <a:pPr>
              <a:buNone/>
            </a:pPr>
            <a:r>
              <a:rPr lang="en-US" b="1" dirty="0"/>
              <a:t>Architecture:</a:t>
            </a:r>
          </a:p>
          <a:p>
            <a:pPr marL="0" indent="0">
              <a:buNone/>
            </a:pPr>
            <a:r>
              <a:rPr lang="en-IN" sz="2400" dirty="0"/>
              <a:t>📂 1. </a:t>
            </a:r>
            <a:r>
              <a:rPr lang="en-IN" sz="2400" b="1" dirty="0"/>
              <a:t>File Upload &amp; Temporary Save</a:t>
            </a:r>
          </a:p>
          <a:p>
            <a:pPr marL="0" indent="0">
              <a:buNone/>
            </a:pPr>
            <a:r>
              <a:rPr lang="en-IN" sz="2400" b="1" dirty="0"/>
              <a:t>U</a:t>
            </a:r>
            <a:r>
              <a:rPr lang="en-IN" sz="2400" dirty="0"/>
              <a:t>ser</a:t>
            </a:r>
            <a:r>
              <a:rPr lang="en-IN" sz="2400" b="1" dirty="0"/>
              <a:t> </a:t>
            </a:r>
            <a:r>
              <a:rPr lang="en-IN" sz="2400" dirty="0"/>
              <a:t>uploads a file via </a:t>
            </a:r>
            <a:r>
              <a:rPr lang="en-IN" sz="2400" dirty="0" err="1"/>
              <a:t>Streamlit</a:t>
            </a:r>
            <a:r>
              <a:rPr lang="en-IN" sz="2400" dirty="0"/>
              <a:t> uploader</a:t>
            </a:r>
          </a:p>
          <a:p>
            <a:pPr marL="0" indent="0">
              <a:buNone/>
            </a:pPr>
            <a:r>
              <a:rPr lang="en-IN" sz="2400" dirty="0"/>
              <a:t>The file is written locally as </a:t>
            </a:r>
            <a:r>
              <a:rPr lang="en-IN" sz="2400" dirty="0" err="1"/>
              <a:t>tempfile</a:t>
            </a:r>
            <a:r>
              <a:rPr lang="en-IN" sz="2400" dirty="0"/>
              <a:t> in binary mode</a:t>
            </a:r>
          </a:p>
          <a:p>
            <a:pPr marL="0" indent="0">
              <a:buNone/>
            </a:pPr>
            <a:r>
              <a:rPr lang="en-IN" sz="2400" dirty="0"/>
              <a:t>⚙️ </a:t>
            </a:r>
            <a:r>
              <a:rPr lang="en-IN" sz="2400" b="1" dirty="0"/>
              <a:t>2. Hash Computation</a:t>
            </a:r>
          </a:p>
          <a:p>
            <a:pPr marL="0" indent="0">
              <a:buNone/>
            </a:pPr>
            <a:r>
              <a:rPr lang="en-IN" sz="2400" dirty="0"/>
              <a:t>SHA-256</a:t>
            </a:r>
            <a:r>
              <a:rPr lang="en-IN" sz="2400" b="1" dirty="0"/>
              <a:t> </a:t>
            </a:r>
            <a:r>
              <a:rPr lang="en-IN" sz="2400" dirty="0"/>
              <a:t>hash is computed using Python’s </a:t>
            </a:r>
            <a:r>
              <a:rPr lang="en-IN" sz="2400" dirty="0" err="1"/>
              <a:t>hashlib</a:t>
            </a:r>
            <a:endParaRPr lang="en-IN" sz="2400" dirty="0"/>
          </a:p>
          <a:p>
            <a:pPr marL="0" indent="0">
              <a:buNone/>
            </a:pPr>
            <a:r>
              <a:rPr lang="en-IN" sz="2400" dirty="0"/>
              <a:t>File is read in chunks (8192 bytes) to avoid memory issues</a:t>
            </a:r>
          </a:p>
          <a:p>
            <a:pPr marL="0" indent="0">
              <a:buNone/>
            </a:pPr>
            <a:r>
              <a:rPr lang="en-IN" sz="2400" dirty="0"/>
              <a:t>🔍 3. </a:t>
            </a:r>
            <a:r>
              <a:rPr lang="en-IN" sz="2400" b="1" dirty="0" err="1"/>
              <a:t>VirusTotal</a:t>
            </a:r>
            <a:r>
              <a:rPr lang="en-IN" sz="2400" b="1" dirty="0"/>
              <a:t> Lookup</a:t>
            </a:r>
          </a:p>
          <a:p>
            <a:pPr marL="0" indent="0">
              <a:buNone/>
            </a:pPr>
            <a:r>
              <a:rPr lang="en-IN" sz="2400" dirty="0"/>
              <a:t>Uses </a:t>
            </a:r>
            <a:r>
              <a:rPr lang="en-IN" sz="2400" dirty="0" err="1"/>
              <a:t>VirusTotal</a:t>
            </a:r>
            <a:r>
              <a:rPr lang="en-IN" sz="2400" dirty="0"/>
              <a:t> API to check if the hash exists:</a:t>
            </a:r>
          </a:p>
          <a:p>
            <a:pPr marL="0" indent="0">
              <a:buNone/>
            </a:pPr>
            <a:r>
              <a:rPr lang="en-IN" sz="2400" dirty="0"/>
              <a:t>✔️ Found → Displays malicious/suspicious/harmless stats</a:t>
            </a:r>
          </a:p>
          <a:p>
            <a:pPr marL="0" indent="0">
              <a:buNone/>
            </a:pPr>
            <a:r>
              <a:rPr lang="en-IN" sz="2400" dirty="0"/>
              <a:t>❌ Not Found → Submits the file to </a:t>
            </a:r>
            <a:r>
              <a:rPr lang="en-IN" sz="2400" dirty="0" err="1"/>
              <a:t>VirusTotal</a:t>
            </a:r>
            <a:r>
              <a:rPr lang="en-IN" sz="2400" dirty="0"/>
              <a:t> for scanning</a:t>
            </a:r>
          </a:p>
          <a:p>
            <a:pPr marL="0" indent="0">
              <a:buNone/>
            </a:pPr>
            <a:r>
              <a:rPr lang="en-IN" sz="2400" dirty="0"/>
              <a:t>🔁 4. </a:t>
            </a:r>
            <a:r>
              <a:rPr lang="en-IN" sz="2400" b="1" dirty="0"/>
              <a:t>Polling for Analysis Result</a:t>
            </a:r>
          </a:p>
          <a:p>
            <a:pPr marL="0" indent="0">
              <a:buNone/>
            </a:pPr>
            <a:r>
              <a:rPr lang="en-IN" sz="2400" dirty="0"/>
              <a:t>If file is newly submitted: System polls </a:t>
            </a:r>
            <a:r>
              <a:rPr lang="en-IN" sz="2400" dirty="0" err="1"/>
              <a:t>VirusTotal</a:t>
            </a:r>
            <a:r>
              <a:rPr lang="en-IN" sz="2400" dirty="0"/>
              <a:t> 10 times (1s interval)Displays result when scan is complete (or timeout warning)</a:t>
            </a:r>
          </a:p>
          <a:p>
            <a:pPr marL="0" indent="0">
              <a:buNone/>
            </a:pPr>
            <a:r>
              <a:rPr lang="en-IN" sz="2400" dirty="0"/>
              <a:t>🔐 </a:t>
            </a:r>
            <a:r>
              <a:rPr lang="en-IN" sz="2400" b="1" dirty="0"/>
              <a:t>Security Features</a:t>
            </a:r>
          </a:p>
          <a:p>
            <a:pPr marL="0" indent="0">
              <a:buNone/>
            </a:pPr>
            <a:r>
              <a:rPr lang="en-IN" sz="2400" dirty="0"/>
              <a:t>File processed locally before upload</a:t>
            </a:r>
          </a:p>
          <a:p>
            <a:pPr marL="0" indent="0">
              <a:buNone/>
            </a:pPr>
            <a:r>
              <a:rPr lang="en-IN" sz="2400" dirty="0"/>
              <a:t>Uses official </a:t>
            </a:r>
            <a:r>
              <a:rPr lang="en-IN" sz="2400" dirty="0" err="1"/>
              <a:t>VirusTotal</a:t>
            </a:r>
            <a:r>
              <a:rPr lang="en-IN" sz="2400" dirty="0"/>
              <a:t> API with secure headers</a:t>
            </a:r>
          </a:p>
          <a:p>
            <a:pPr marL="0" indent="0">
              <a:buNone/>
            </a:pPr>
            <a:r>
              <a:rPr lang="en-IN" sz="2400" dirty="0"/>
              <a:t>Only SHA-256 is used for hash computation (secure &amp; industry standard)</a:t>
            </a:r>
          </a:p>
          <a:p>
            <a:pPr marL="0" indent="0">
              <a:buNone/>
            </a:pPr>
            <a:r>
              <a:rPr lang="en-IN" sz="2400" dirty="0"/>
              <a:t>✅ </a:t>
            </a:r>
            <a:r>
              <a:rPr lang="en-IN" sz="2400" b="1" dirty="0"/>
              <a:t>Output:</a:t>
            </a:r>
          </a:p>
          <a:p>
            <a:pPr marL="0" indent="0">
              <a:buNone/>
            </a:pPr>
            <a:r>
              <a:rPr lang="en-IN" sz="2400" dirty="0"/>
              <a:t>Malicious / Suspicious / Harmless / Undetected counts</a:t>
            </a:r>
          </a:p>
          <a:p>
            <a:pPr marL="0" indent="0">
              <a:buNone/>
            </a:pPr>
            <a:r>
              <a:rPr lang="en-IN" sz="2400" dirty="0"/>
              <a:t>Full transparency of scan status and results</a:t>
            </a:r>
          </a:p>
        </p:txBody>
      </p:sp>
      <p:pic>
        <p:nvPicPr>
          <p:cNvPr id="3086" name="Picture 14" descr="Generated image">
            <a:extLst>
              <a:ext uri="{FF2B5EF4-FFF2-40B4-BE49-F238E27FC236}">
                <a16:creationId xmlns:a16="http://schemas.microsoft.com/office/drawing/2014/main" id="{787DB0B7-BFA1-5899-59D5-96F5174EAEF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017324" y="3042444"/>
            <a:ext cx="5832648" cy="3690687"/>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5">
            <a:extLst>
              <a:ext uri="{FF2B5EF4-FFF2-40B4-BE49-F238E27FC236}">
                <a16:creationId xmlns:a16="http://schemas.microsoft.com/office/drawing/2014/main" id="{26E2734F-E2C2-5CA5-CB2E-D25983C3B9F4}"/>
              </a:ext>
            </a:extLst>
          </p:cNvPr>
          <p:cNvGrpSpPr/>
          <p:nvPr/>
        </p:nvGrpSpPr>
        <p:grpSpPr>
          <a:xfrm>
            <a:off x="0" y="0"/>
            <a:ext cx="19010313" cy="588943"/>
            <a:chOff x="-324644" y="2222500"/>
            <a:chExt cx="22261685" cy="1302327"/>
          </a:xfrm>
        </p:grpSpPr>
        <p:sp>
          <p:nvSpPr>
            <p:cNvPr id="7" name="object 2">
              <a:extLst>
                <a:ext uri="{FF2B5EF4-FFF2-40B4-BE49-F238E27FC236}">
                  <a16:creationId xmlns:a16="http://schemas.microsoft.com/office/drawing/2014/main" id="{255021CA-23DD-762C-46A3-A50321B05558}"/>
                </a:ext>
              </a:extLst>
            </p:cNvPr>
            <p:cNvSpPr/>
            <p:nvPr/>
          </p:nvSpPr>
          <p:spPr>
            <a:xfrm>
              <a:off x="-324644"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009EF3"/>
            </a:solidFill>
          </p:spPr>
          <p:txBody>
            <a:bodyPr wrap="square" lIns="0" tIns="0" rIns="0" bIns="0" rtlCol="0"/>
            <a:lstStyle/>
            <a:p>
              <a:endParaRPr dirty="0"/>
            </a:p>
          </p:txBody>
        </p:sp>
        <p:sp>
          <p:nvSpPr>
            <p:cNvPr id="8" name="object 3">
              <a:extLst>
                <a:ext uri="{FF2B5EF4-FFF2-40B4-BE49-F238E27FC236}">
                  <a16:creationId xmlns:a16="http://schemas.microsoft.com/office/drawing/2014/main" id="{D46A7D3A-7209-406C-ABD6-DBB54DBAA823}"/>
                </a:ext>
              </a:extLst>
            </p:cNvPr>
            <p:cNvSpPr/>
            <p:nvPr/>
          </p:nvSpPr>
          <p:spPr>
            <a:xfrm>
              <a:off x="16363156" y="2222500"/>
              <a:ext cx="5573885" cy="1302327"/>
            </a:xfrm>
            <a:custGeom>
              <a:avLst/>
              <a:gdLst/>
              <a:ahLst/>
              <a:cxnLst/>
              <a:rect l="l" t="t" r="r" b="b"/>
              <a:pathLst>
                <a:path w="1883409" h="440055">
                  <a:moveTo>
                    <a:pt x="0" y="0"/>
                  </a:moveTo>
                  <a:lnTo>
                    <a:pt x="0" y="439737"/>
                  </a:lnTo>
                  <a:lnTo>
                    <a:pt x="1883155" y="439737"/>
                  </a:lnTo>
                  <a:lnTo>
                    <a:pt x="1883155" y="0"/>
                  </a:lnTo>
                  <a:lnTo>
                    <a:pt x="0" y="0"/>
                  </a:lnTo>
                  <a:close/>
                </a:path>
              </a:pathLst>
            </a:custGeom>
            <a:solidFill>
              <a:srgbClr val="FF8200"/>
            </a:solidFill>
          </p:spPr>
          <p:txBody>
            <a:bodyPr wrap="square" lIns="0" tIns="0" rIns="0" bIns="0" rtlCol="0"/>
            <a:lstStyle/>
            <a:p>
              <a:endParaRPr dirty="0"/>
            </a:p>
          </p:txBody>
        </p:sp>
        <p:sp>
          <p:nvSpPr>
            <p:cNvPr id="9" name="object 2">
              <a:extLst>
                <a:ext uri="{FF2B5EF4-FFF2-40B4-BE49-F238E27FC236}">
                  <a16:creationId xmlns:a16="http://schemas.microsoft.com/office/drawing/2014/main" id="{C010D715-3D70-4FCA-D623-478C875A4AC1}"/>
                </a:ext>
              </a:extLst>
            </p:cNvPr>
            <p:cNvSpPr/>
            <p:nvPr/>
          </p:nvSpPr>
          <p:spPr>
            <a:xfrm>
              <a:off x="5237956"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FFBF00"/>
            </a:solidFill>
          </p:spPr>
          <p:txBody>
            <a:bodyPr wrap="square" lIns="0" tIns="0" rIns="0" bIns="0" rtlCol="0"/>
            <a:lstStyle/>
            <a:p>
              <a:endParaRPr dirty="0"/>
            </a:p>
          </p:txBody>
        </p:sp>
        <p:sp>
          <p:nvSpPr>
            <p:cNvPr id="10" name="object 2">
              <a:extLst>
                <a:ext uri="{FF2B5EF4-FFF2-40B4-BE49-F238E27FC236}">
                  <a16:creationId xmlns:a16="http://schemas.microsoft.com/office/drawing/2014/main" id="{9FF5C143-D652-0BC9-EAFF-362BB34D8009}"/>
                </a:ext>
              </a:extLst>
            </p:cNvPr>
            <p:cNvSpPr/>
            <p:nvPr/>
          </p:nvSpPr>
          <p:spPr>
            <a:xfrm>
              <a:off x="10800556"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FFA100"/>
            </a:solidFill>
          </p:spPr>
          <p:txBody>
            <a:bodyPr wrap="square" lIns="0" tIns="0" rIns="0" bIns="0" rtlCol="0"/>
            <a:lstStyle/>
            <a:p>
              <a:endParaRPr dirty="0"/>
            </a:p>
          </p:txBody>
        </p:sp>
      </p:grpSp>
    </p:spTree>
    <p:extLst>
      <p:ext uri="{BB962C8B-B14F-4D97-AF65-F5344CB8AC3E}">
        <p14:creationId xmlns:p14="http://schemas.microsoft.com/office/powerpoint/2010/main" val="6042743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CB66EB-B843-4BDD-E47A-9C78A0FC2544}"/>
              </a:ext>
            </a:extLst>
          </p:cNvPr>
          <p:cNvSpPr>
            <a:spLocks noGrp="1"/>
          </p:cNvSpPr>
          <p:nvPr>
            <p:ph type="dt" sz="half" idx="10"/>
          </p:nvPr>
        </p:nvSpPr>
        <p:spPr/>
        <p:txBody>
          <a:bodyPr/>
          <a:lstStyle/>
          <a:p>
            <a:fld id="{EA8A1AFC-9F3B-438B-B10C-E9A9073FAD5F}" type="datetime1">
              <a:rPr lang="en-IN" smtClean="0"/>
              <a:t>28-10-2025</a:t>
            </a:fld>
            <a:endParaRPr lang="en-IN"/>
          </a:p>
        </p:txBody>
      </p:sp>
      <p:sp>
        <p:nvSpPr>
          <p:cNvPr id="3" name="Slide Number Placeholder 2">
            <a:extLst>
              <a:ext uri="{FF2B5EF4-FFF2-40B4-BE49-F238E27FC236}">
                <a16:creationId xmlns:a16="http://schemas.microsoft.com/office/drawing/2014/main" id="{E605D27F-16EC-7F19-4673-E73E4FA49D7A}"/>
              </a:ext>
            </a:extLst>
          </p:cNvPr>
          <p:cNvSpPr>
            <a:spLocks noGrp="1"/>
          </p:cNvSpPr>
          <p:nvPr>
            <p:ph type="sldNum" sz="quarter" idx="12"/>
          </p:nvPr>
        </p:nvSpPr>
        <p:spPr/>
        <p:txBody>
          <a:bodyPr/>
          <a:lstStyle/>
          <a:p>
            <a:fld id="{DCC7CF5C-16A0-4876-B638-15BC6385E45C}" type="slidenum">
              <a:rPr lang="en-IN" smtClean="0"/>
              <a:t>12</a:t>
            </a:fld>
            <a:endParaRPr lang="en-IN"/>
          </a:p>
        </p:txBody>
      </p:sp>
      <p:sp>
        <p:nvSpPr>
          <p:cNvPr id="4" name="Title 3">
            <a:extLst>
              <a:ext uri="{FF2B5EF4-FFF2-40B4-BE49-F238E27FC236}">
                <a16:creationId xmlns:a16="http://schemas.microsoft.com/office/drawing/2014/main" id="{A14D9E33-AD77-CABC-06CC-444260AE4ABA}"/>
              </a:ext>
            </a:extLst>
          </p:cNvPr>
          <p:cNvSpPr>
            <a:spLocks noGrp="1"/>
          </p:cNvSpPr>
          <p:nvPr>
            <p:ph type="title"/>
          </p:nvPr>
        </p:nvSpPr>
        <p:spPr/>
        <p:txBody>
          <a:bodyPr/>
          <a:lstStyle/>
          <a:p>
            <a:r>
              <a:rPr lang="en-IN" dirty="0">
                <a:latin typeface="Arial Rounded MT Bold" panose="020F0704030504030204" pitchFamily="34" charset="0"/>
              </a:rPr>
              <a:t>Port Scanner</a:t>
            </a:r>
            <a:br>
              <a:rPr lang="en-IN" dirty="0"/>
            </a:br>
            <a:endParaRPr lang="en-IN" dirty="0"/>
          </a:p>
        </p:txBody>
      </p:sp>
      <p:sp>
        <p:nvSpPr>
          <p:cNvPr id="5" name="Content Placeholder 4">
            <a:extLst>
              <a:ext uri="{FF2B5EF4-FFF2-40B4-BE49-F238E27FC236}">
                <a16:creationId xmlns:a16="http://schemas.microsoft.com/office/drawing/2014/main" id="{74C69F5F-4EE3-C67E-2006-CD1549C7CDB5}"/>
              </a:ext>
            </a:extLst>
          </p:cNvPr>
          <p:cNvSpPr>
            <a:spLocks noGrp="1"/>
          </p:cNvSpPr>
          <p:nvPr>
            <p:ph idx="1"/>
          </p:nvPr>
        </p:nvSpPr>
        <p:spPr>
          <a:xfrm>
            <a:off x="1306513" y="2846388"/>
            <a:ext cx="16397287" cy="7064375"/>
          </a:xfrm>
        </p:spPr>
        <p:txBody>
          <a:bodyPr>
            <a:normAutofit lnSpcReduction="10000"/>
          </a:bodyPr>
          <a:lstStyle/>
          <a:p>
            <a:pPr>
              <a:buNone/>
            </a:pPr>
            <a:r>
              <a:rPr lang="en-US" b="1" dirty="0"/>
              <a:t>Architecture:</a:t>
            </a:r>
          </a:p>
          <a:p>
            <a:pPr>
              <a:buFont typeface="Arial" panose="020B0604020202020204" pitchFamily="34" charset="0"/>
              <a:buChar char="•"/>
            </a:pPr>
            <a:r>
              <a:rPr lang="en-US" b="1" dirty="0"/>
              <a:t>Data Input:</a:t>
            </a:r>
            <a:endParaRPr lang="en-US" dirty="0"/>
          </a:p>
          <a:p>
            <a:pPr marL="742950" lvl="1" indent="-285750">
              <a:buFont typeface="Arial" panose="020B0604020202020204" pitchFamily="34" charset="0"/>
              <a:buChar char="•"/>
            </a:pPr>
            <a:r>
              <a:rPr lang="en-US" dirty="0"/>
              <a:t>User inputs a </a:t>
            </a:r>
            <a:r>
              <a:rPr lang="en-US" b="1" dirty="0"/>
              <a:t>target IP address</a:t>
            </a:r>
            <a:r>
              <a:rPr lang="en-US" dirty="0"/>
              <a:t> or </a:t>
            </a:r>
            <a:r>
              <a:rPr lang="en-US" b="1" dirty="0"/>
              <a:t>domain name</a:t>
            </a:r>
            <a:r>
              <a:rPr lang="en-US" dirty="0"/>
              <a:t>.</a:t>
            </a:r>
          </a:p>
          <a:p>
            <a:pPr marL="742950" lvl="1" indent="-285750">
              <a:buFont typeface="Arial" panose="020B0604020202020204" pitchFamily="34" charset="0"/>
              <a:buChar char="•"/>
            </a:pPr>
            <a:r>
              <a:rPr lang="en-US" dirty="0"/>
              <a:t>User selects a </a:t>
            </a:r>
            <a:r>
              <a:rPr lang="en-US" b="1" dirty="0"/>
              <a:t>port range</a:t>
            </a:r>
            <a:r>
              <a:rPr lang="en-US" dirty="0"/>
              <a:t> (e.g., 1–1024 or custom).</a:t>
            </a:r>
          </a:p>
          <a:p>
            <a:pPr marL="742950" lvl="1" indent="-285750">
              <a:buFont typeface="Arial" panose="020B0604020202020204" pitchFamily="34" charset="0"/>
              <a:buChar char="•"/>
            </a:pPr>
            <a:r>
              <a:rPr lang="en-US" dirty="0"/>
              <a:t>Option to choose scan type (e.g., TCP connect scan or socket-based scan).</a:t>
            </a:r>
          </a:p>
          <a:p>
            <a:pPr>
              <a:buFont typeface="Arial" panose="020B0604020202020204" pitchFamily="34" charset="0"/>
              <a:buChar char="•"/>
            </a:pPr>
            <a:r>
              <a:rPr lang="en-US" b="1" dirty="0"/>
              <a:t>Scanning Process:</a:t>
            </a:r>
            <a:endParaRPr lang="en-US" dirty="0"/>
          </a:p>
          <a:p>
            <a:pPr marL="742950" lvl="1" indent="-285750">
              <a:buFont typeface="Arial" panose="020B0604020202020204" pitchFamily="34" charset="0"/>
              <a:buChar char="•"/>
            </a:pPr>
            <a:r>
              <a:rPr lang="en-US" dirty="0"/>
              <a:t>The system performs </a:t>
            </a:r>
            <a:r>
              <a:rPr lang="en-US" b="1" dirty="0"/>
              <a:t>socket-based port scanning</a:t>
            </a:r>
            <a:r>
              <a:rPr lang="en-US" dirty="0"/>
              <a:t>.</a:t>
            </a:r>
          </a:p>
          <a:p>
            <a:pPr marL="1143000" lvl="2" indent="-228600">
              <a:buFont typeface="Arial" panose="020B0604020202020204" pitchFamily="34" charset="0"/>
              <a:buChar char="•"/>
            </a:pPr>
            <a:r>
              <a:rPr lang="en-US" dirty="0"/>
              <a:t>Attempts to establish a TCP connection to each port.</a:t>
            </a:r>
          </a:p>
          <a:p>
            <a:pPr marL="1143000" lvl="2" indent="-228600">
              <a:buFont typeface="Arial" panose="020B0604020202020204" pitchFamily="34" charset="0"/>
              <a:buChar char="•"/>
            </a:pPr>
            <a:r>
              <a:rPr lang="en-US" dirty="0"/>
              <a:t>Ports are marked as </a:t>
            </a:r>
            <a:r>
              <a:rPr lang="en-US" b="1" dirty="0"/>
              <a:t>open</a:t>
            </a:r>
            <a:r>
              <a:rPr lang="en-US" dirty="0"/>
              <a:t>, </a:t>
            </a:r>
            <a:r>
              <a:rPr lang="en-US" b="1" dirty="0"/>
              <a:t>closed</a:t>
            </a:r>
            <a:r>
              <a:rPr lang="en-US" dirty="0"/>
              <a:t>, or </a:t>
            </a:r>
            <a:r>
              <a:rPr lang="en-US" b="1" dirty="0"/>
              <a:t>filtered</a:t>
            </a:r>
            <a:r>
              <a:rPr lang="en-US" dirty="0"/>
              <a:t> based on response.</a:t>
            </a:r>
          </a:p>
          <a:p>
            <a:pPr marL="742950" lvl="1" indent="-285750">
              <a:buFont typeface="Arial" panose="020B0604020202020204" pitchFamily="34" charset="0"/>
              <a:buChar char="•"/>
            </a:pPr>
            <a:r>
              <a:rPr lang="en-US" dirty="0"/>
              <a:t>Optionally supports </a:t>
            </a:r>
            <a:r>
              <a:rPr lang="en-US" b="1" dirty="0"/>
              <a:t>multi-threading</a:t>
            </a:r>
            <a:r>
              <a:rPr lang="en-US" dirty="0"/>
              <a:t> or </a:t>
            </a:r>
            <a:r>
              <a:rPr lang="en-US" b="1" dirty="0"/>
              <a:t>async I/O</a:t>
            </a:r>
            <a:r>
              <a:rPr lang="en-US" dirty="0"/>
              <a:t> for faster scans.</a:t>
            </a:r>
          </a:p>
          <a:p>
            <a:pPr>
              <a:buFont typeface="Arial" panose="020B0604020202020204" pitchFamily="34" charset="0"/>
              <a:buChar char="•"/>
            </a:pPr>
            <a:r>
              <a:rPr lang="en-US" b="1" dirty="0"/>
              <a:t>Result Interpretation:</a:t>
            </a:r>
            <a:endParaRPr lang="en-US" dirty="0"/>
          </a:p>
          <a:p>
            <a:pPr marL="742950" lvl="1" indent="-285750">
              <a:buFont typeface="Arial" panose="020B0604020202020204" pitchFamily="34" charset="0"/>
              <a:buChar char="•"/>
            </a:pPr>
            <a:r>
              <a:rPr lang="en-US" dirty="0"/>
              <a:t>Open ports are listed along with common service names (e.g., 22 → SSH, 80 → HTTP).</a:t>
            </a:r>
          </a:p>
          <a:p>
            <a:pPr marL="742950" lvl="1" indent="-285750">
              <a:buFont typeface="Arial" panose="020B0604020202020204" pitchFamily="34" charset="0"/>
              <a:buChar char="•"/>
            </a:pPr>
            <a:r>
              <a:rPr lang="en-US" dirty="0"/>
              <a:t>Results are displayed in tabular form, with visual cues (✔️ open, ❌ closed).</a:t>
            </a:r>
          </a:p>
          <a:p>
            <a:pPr>
              <a:buFont typeface="Arial" panose="020B0604020202020204" pitchFamily="34" charset="0"/>
              <a:buChar char="•"/>
            </a:pPr>
            <a:r>
              <a:rPr lang="en-US" b="1" dirty="0"/>
              <a:t>Security &amp; Restrictions:</a:t>
            </a:r>
            <a:endParaRPr lang="en-US" dirty="0"/>
          </a:p>
          <a:p>
            <a:pPr marL="742950" lvl="1" indent="-285750">
              <a:buFont typeface="Arial" panose="020B0604020202020204" pitchFamily="34" charset="0"/>
              <a:buChar char="•"/>
            </a:pPr>
            <a:r>
              <a:rPr lang="en-US" dirty="0"/>
              <a:t>Limits max scan range to prevent misuse (e.g., max 1000 ports).</a:t>
            </a:r>
          </a:p>
          <a:p>
            <a:pPr marL="742950" lvl="1" indent="-285750">
              <a:buFont typeface="Arial" panose="020B0604020202020204" pitchFamily="34" charset="0"/>
              <a:buChar char="•"/>
            </a:pPr>
            <a:r>
              <a:rPr lang="en-US" dirty="0"/>
              <a:t>Scanning is local and cannot be used for external attacks.</a:t>
            </a:r>
          </a:p>
          <a:p>
            <a:pPr marL="742950" lvl="1" indent="-285750">
              <a:buFont typeface="Arial" panose="020B0604020202020204" pitchFamily="34" charset="0"/>
              <a:buChar char="•"/>
            </a:pPr>
            <a:r>
              <a:rPr lang="en-US" dirty="0"/>
              <a:t>Warning is displayed for ethical use compliance.</a:t>
            </a:r>
          </a:p>
          <a:p>
            <a:pPr marL="0" indent="0">
              <a:buNone/>
            </a:pPr>
            <a:endParaRPr lang="en-IN" dirty="0"/>
          </a:p>
        </p:txBody>
      </p:sp>
      <p:grpSp>
        <p:nvGrpSpPr>
          <p:cNvPr id="6" name="Group 5">
            <a:extLst>
              <a:ext uri="{FF2B5EF4-FFF2-40B4-BE49-F238E27FC236}">
                <a16:creationId xmlns:a16="http://schemas.microsoft.com/office/drawing/2014/main" id="{E8DC8F5A-4D68-F23D-F9E8-C188CBBFBAB2}"/>
              </a:ext>
            </a:extLst>
          </p:cNvPr>
          <p:cNvGrpSpPr/>
          <p:nvPr/>
        </p:nvGrpSpPr>
        <p:grpSpPr>
          <a:xfrm>
            <a:off x="0" y="0"/>
            <a:ext cx="19010313" cy="588943"/>
            <a:chOff x="-324644" y="2222500"/>
            <a:chExt cx="22261685" cy="1302327"/>
          </a:xfrm>
        </p:grpSpPr>
        <p:sp>
          <p:nvSpPr>
            <p:cNvPr id="7" name="object 2">
              <a:extLst>
                <a:ext uri="{FF2B5EF4-FFF2-40B4-BE49-F238E27FC236}">
                  <a16:creationId xmlns:a16="http://schemas.microsoft.com/office/drawing/2014/main" id="{E72062FA-7D47-F167-B05F-D83538AA081C}"/>
                </a:ext>
              </a:extLst>
            </p:cNvPr>
            <p:cNvSpPr/>
            <p:nvPr/>
          </p:nvSpPr>
          <p:spPr>
            <a:xfrm>
              <a:off x="-324644"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009EF3"/>
            </a:solidFill>
          </p:spPr>
          <p:txBody>
            <a:bodyPr wrap="square" lIns="0" tIns="0" rIns="0" bIns="0" rtlCol="0"/>
            <a:lstStyle/>
            <a:p>
              <a:endParaRPr dirty="0"/>
            </a:p>
          </p:txBody>
        </p:sp>
        <p:sp>
          <p:nvSpPr>
            <p:cNvPr id="8" name="object 3">
              <a:extLst>
                <a:ext uri="{FF2B5EF4-FFF2-40B4-BE49-F238E27FC236}">
                  <a16:creationId xmlns:a16="http://schemas.microsoft.com/office/drawing/2014/main" id="{F244333B-3F71-50C3-20C3-02EF9D85E966}"/>
                </a:ext>
              </a:extLst>
            </p:cNvPr>
            <p:cNvSpPr/>
            <p:nvPr/>
          </p:nvSpPr>
          <p:spPr>
            <a:xfrm>
              <a:off x="16363156" y="2222500"/>
              <a:ext cx="5573885" cy="1302327"/>
            </a:xfrm>
            <a:custGeom>
              <a:avLst/>
              <a:gdLst/>
              <a:ahLst/>
              <a:cxnLst/>
              <a:rect l="l" t="t" r="r" b="b"/>
              <a:pathLst>
                <a:path w="1883409" h="440055">
                  <a:moveTo>
                    <a:pt x="0" y="0"/>
                  </a:moveTo>
                  <a:lnTo>
                    <a:pt x="0" y="439737"/>
                  </a:lnTo>
                  <a:lnTo>
                    <a:pt x="1883155" y="439737"/>
                  </a:lnTo>
                  <a:lnTo>
                    <a:pt x="1883155" y="0"/>
                  </a:lnTo>
                  <a:lnTo>
                    <a:pt x="0" y="0"/>
                  </a:lnTo>
                  <a:close/>
                </a:path>
              </a:pathLst>
            </a:custGeom>
            <a:solidFill>
              <a:srgbClr val="FF8200"/>
            </a:solidFill>
          </p:spPr>
          <p:txBody>
            <a:bodyPr wrap="square" lIns="0" tIns="0" rIns="0" bIns="0" rtlCol="0"/>
            <a:lstStyle/>
            <a:p>
              <a:endParaRPr dirty="0"/>
            </a:p>
          </p:txBody>
        </p:sp>
        <p:sp>
          <p:nvSpPr>
            <p:cNvPr id="9" name="object 2">
              <a:extLst>
                <a:ext uri="{FF2B5EF4-FFF2-40B4-BE49-F238E27FC236}">
                  <a16:creationId xmlns:a16="http://schemas.microsoft.com/office/drawing/2014/main" id="{73E65D6C-42E5-AD90-AFEA-68FB2F133313}"/>
                </a:ext>
              </a:extLst>
            </p:cNvPr>
            <p:cNvSpPr/>
            <p:nvPr/>
          </p:nvSpPr>
          <p:spPr>
            <a:xfrm>
              <a:off x="5237956"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FFBF00"/>
            </a:solidFill>
          </p:spPr>
          <p:txBody>
            <a:bodyPr wrap="square" lIns="0" tIns="0" rIns="0" bIns="0" rtlCol="0"/>
            <a:lstStyle/>
            <a:p>
              <a:endParaRPr dirty="0"/>
            </a:p>
          </p:txBody>
        </p:sp>
        <p:sp>
          <p:nvSpPr>
            <p:cNvPr id="10" name="object 2">
              <a:extLst>
                <a:ext uri="{FF2B5EF4-FFF2-40B4-BE49-F238E27FC236}">
                  <a16:creationId xmlns:a16="http://schemas.microsoft.com/office/drawing/2014/main" id="{401038C3-4B84-6C4F-997E-7A300692538E}"/>
                </a:ext>
              </a:extLst>
            </p:cNvPr>
            <p:cNvSpPr/>
            <p:nvPr/>
          </p:nvSpPr>
          <p:spPr>
            <a:xfrm>
              <a:off x="10800556"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FFA100"/>
            </a:solidFill>
          </p:spPr>
          <p:txBody>
            <a:bodyPr wrap="square" lIns="0" tIns="0" rIns="0" bIns="0" rtlCol="0"/>
            <a:lstStyle/>
            <a:p>
              <a:endParaRPr dirty="0"/>
            </a:p>
          </p:txBody>
        </p:sp>
      </p:grpSp>
    </p:spTree>
    <p:extLst>
      <p:ext uri="{BB962C8B-B14F-4D97-AF65-F5344CB8AC3E}">
        <p14:creationId xmlns:p14="http://schemas.microsoft.com/office/powerpoint/2010/main" val="41190964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939E3D6-381F-70B6-AAFA-47A4B1AC0154}"/>
              </a:ext>
            </a:extLst>
          </p:cNvPr>
          <p:cNvSpPr>
            <a:spLocks noGrp="1"/>
          </p:cNvSpPr>
          <p:nvPr>
            <p:ph type="dt" sz="half" idx="10"/>
          </p:nvPr>
        </p:nvSpPr>
        <p:spPr/>
        <p:txBody>
          <a:bodyPr/>
          <a:lstStyle/>
          <a:p>
            <a:fld id="{EA8A1AFC-9F3B-438B-B10C-E9A9073FAD5F}" type="datetime1">
              <a:rPr lang="en-IN" smtClean="0"/>
              <a:t>28-10-2025</a:t>
            </a:fld>
            <a:endParaRPr lang="en-IN"/>
          </a:p>
        </p:txBody>
      </p:sp>
      <p:sp>
        <p:nvSpPr>
          <p:cNvPr id="3" name="Slide Number Placeholder 2">
            <a:extLst>
              <a:ext uri="{FF2B5EF4-FFF2-40B4-BE49-F238E27FC236}">
                <a16:creationId xmlns:a16="http://schemas.microsoft.com/office/drawing/2014/main" id="{65153335-51D6-F306-E8AA-B7599159BC82}"/>
              </a:ext>
            </a:extLst>
          </p:cNvPr>
          <p:cNvSpPr>
            <a:spLocks noGrp="1"/>
          </p:cNvSpPr>
          <p:nvPr>
            <p:ph type="sldNum" sz="quarter" idx="12"/>
          </p:nvPr>
        </p:nvSpPr>
        <p:spPr/>
        <p:txBody>
          <a:bodyPr/>
          <a:lstStyle/>
          <a:p>
            <a:fld id="{DCC7CF5C-16A0-4876-B638-15BC6385E45C}" type="slidenum">
              <a:rPr lang="en-IN" smtClean="0"/>
              <a:t>13</a:t>
            </a:fld>
            <a:endParaRPr lang="en-IN"/>
          </a:p>
        </p:txBody>
      </p:sp>
      <p:sp>
        <p:nvSpPr>
          <p:cNvPr id="4" name="Title 3">
            <a:extLst>
              <a:ext uri="{FF2B5EF4-FFF2-40B4-BE49-F238E27FC236}">
                <a16:creationId xmlns:a16="http://schemas.microsoft.com/office/drawing/2014/main" id="{5D9495B8-B81E-7C13-45C4-83ACC8F4E358}"/>
              </a:ext>
            </a:extLst>
          </p:cNvPr>
          <p:cNvSpPr>
            <a:spLocks noGrp="1"/>
          </p:cNvSpPr>
          <p:nvPr>
            <p:ph type="title"/>
          </p:nvPr>
        </p:nvSpPr>
        <p:spPr/>
        <p:txBody>
          <a:bodyPr/>
          <a:lstStyle/>
          <a:p>
            <a:r>
              <a:rPr lang="en-IN" dirty="0">
                <a:latin typeface="Arial Rounded MT Bold" panose="020F0704030504030204" pitchFamily="34" charset="0"/>
              </a:rPr>
              <a:t>PCAP Analyzer</a:t>
            </a:r>
            <a:br>
              <a:rPr lang="en-IN" dirty="0"/>
            </a:br>
            <a:endParaRPr lang="en-IN" dirty="0"/>
          </a:p>
        </p:txBody>
      </p:sp>
      <p:sp>
        <p:nvSpPr>
          <p:cNvPr id="11" name="Rectangle 6">
            <a:extLst>
              <a:ext uri="{FF2B5EF4-FFF2-40B4-BE49-F238E27FC236}">
                <a16:creationId xmlns:a16="http://schemas.microsoft.com/office/drawing/2014/main" id="{C52389CB-0947-2C95-FCD4-103B839D1B8E}"/>
              </a:ext>
            </a:extLst>
          </p:cNvPr>
          <p:cNvSpPr>
            <a:spLocks noGrp="1" noChangeArrowheads="1"/>
          </p:cNvSpPr>
          <p:nvPr>
            <p:ph idx="1"/>
          </p:nvPr>
        </p:nvSpPr>
        <p:spPr bwMode="auto">
          <a:xfrm>
            <a:off x="1306513" y="1930004"/>
            <a:ext cx="15831491" cy="86177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chemeClr val="tx1"/>
                </a:solidFill>
                <a:effectLst/>
                <a:latin typeface="Arial" panose="020B0604020202020204" pitchFamily="34" charset="0"/>
              </a:rPr>
              <a:t>System Architecture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1" i="0" u="none" strike="noStrike" cap="none" normalizeH="0" baseline="0" dirty="0">
                <a:ln>
                  <a:noFill/>
                </a:ln>
                <a:solidFill>
                  <a:schemeClr val="tx1"/>
                </a:solidFill>
                <a:effectLst/>
                <a:latin typeface="Arial" panose="020B0604020202020204" pitchFamily="34" charset="0"/>
              </a:rPr>
              <a:t>Input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Arial" panose="020B0604020202020204" pitchFamily="34" charset="0"/>
              </a:rPr>
              <a:t>User uploads a .</a:t>
            </a:r>
            <a:r>
              <a:rPr kumimoji="0" lang="en-US" altLang="en-US" sz="2800" b="0" i="0" u="none" strike="noStrike" cap="none" normalizeH="0" baseline="0" dirty="0" err="1">
                <a:ln>
                  <a:noFill/>
                </a:ln>
                <a:solidFill>
                  <a:schemeClr val="tx1"/>
                </a:solidFill>
                <a:effectLst/>
                <a:latin typeface="Arial" panose="020B0604020202020204" pitchFamily="34" charset="0"/>
              </a:rPr>
              <a:t>pcap</a:t>
            </a:r>
            <a:r>
              <a:rPr kumimoji="0" lang="en-US" altLang="en-US" sz="2800" b="0" i="0" u="none" strike="noStrike" cap="none" normalizeH="0" baseline="0" dirty="0">
                <a:ln>
                  <a:noFill/>
                </a:ln>
                <a:solidFill>
                  <a:schemeClr val="tx1"/>
                </a:solidFill>
                <a:effectLst/>
                <a:latin typeface="Arial" panose="020B0604020202020204" pitchFamily="34" charset="0"/>
              </a:rPr>
              <a:t> or .</a:t>
            </a:r>
            <a:r>
              <a:rPr kumimoji="0" lang="en-US" altLang="en-US" sz="2800" b="0" i="0" u="none" strike="noStrike" cap="none" normalizeH="0" baseline="0" dirty="0" err="1">
                <a:ln>
                  <a:noFill/>
                </a:ln>
                <a:solidFill>
                  <a:schemeClr val="tx1"/>
                </a:solidFill>
                <a:effectLst/>
                <a:latin typeface="Arial" panose="020B0604020202020204" pitchFamily="34" charset="0"/>
              </a:rPr>
              <a:t>pcapng</a:t>
            </a:r>
            <a:r>
              <a:rPr kumimoji="0" lang="en-US" altLang="en-US" sz="2800" b="0" i="0" u="none" strike="noStrike" cap="none" normalizeH="0" baseline="0" dirty="0">
                <a:ln>
                  <a:noFill/>
                </a:ln>
                <a:solidFill>
                  <a:schemeClr val="tx1"/>
                </a:solidFill>
                <a:effectLst/>
                <a:latin typeface="Arial" panose="020B0604020202020204" pitchFamily="34" charset="0"/>
              </a:rPr>
              <a:t> file through the Tech Sentinel interface (</a:t>
            </a:r>
            <a:r>
              <a:rPr kumimoji="0" lang="en-US" altLang="en-US" sz="2800" b="0" i="0" u="none" strike="noStrike" cap="none" normalizeH="0" baseline="0" dirty="0" err="1">
                <a:ln>
                  <a:noFill/>
                </a:ln>
                <a:solidFill>
                  <a:schemeClr val="tx1"/>
                </a:solidFill>
                <a:effectLst/>
                <a:latin typeface="Arial" panose="020B0604020202020204" pitchFamily="34" charset="0"/>
              </a:rPr>
              <a:t>Streamlit</a:t>
            </a:r>
            <a:r>
              <a:rPr kumimoji="0" lang="en-US" altLang="en-US" sz="2800" b="0" i="0" u="none" strike="noStrike" cap="none" normalizeH="0" baseline="0" dirty="0">
                <a:ln>
                  <a:noFill/>
                </a:ln>
                <a:solidFill>
                  <a:schemeClr val="tx1"/>
                </a:solidFill>
                <a:effectLst/>
                <a:latin typeface="Arial" panose="020B0604020202020204" pitchFamily="34" charset="0"/>
              </a:rPr>
              <a:t>-based).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Arial" panose="020B0604020202020204" pitchFamily="34" charset="0"/>
              </a:rPr>
              <a:t>⚙️ Packet Parsing &amp; Feature Extraction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Arial" panose="020B0604020202020204" pitchFamily="34" charset="0"/>
              </a:rPr>
              <a:t>Uses </a:t>
            </a:r>
            <a:r>
              <a:rPr kumimoji="0" lang="en-US" altLang="en-US" sz="2800" b="0" i="0" u="none" strike="noStrike" cap="none" normalizeH="0" baseline="0" dirty="0" err="1">
                <a:ln>
                  <a:noFill/>
                </a:ln>
                <a:solidFill>
                  <a:schemeClr val="tx1"/>
                </a:solidFill>
                <a:effectLst/>
                <a:latin typeface="Arial" panose="020B0604020202020204" pitchFamily="34" charset="0"/>
              </a:rPr>
              <a:t>Scapy</a:t>
            </a:r>
            <a:r>
              <a:rPr kumimoji="0" lang="en-US" altLang="en-US" sz="2800" b="0" i="0" u="none" strike="noStrike" cap="none" normalizeH="0" baseline="0" dirty="0">
                <a:ln>
                  <a:noFill/>
                </a:ln>
                <a:solidFill>
                  <a:schemeClr val="tx1"/>
                </a:solidFill>
                <a:effectLst/>
                <a:latin typeface="Arial" panose="020B0604020202020204" pitchFamily="34" charset="0"/>
              </a:rPr>
              <a:t> (or </a:t>
            </a:r>
            <a:r>
              <a:rPr kumimoji="0" lang="en-US" altLang="en-US" sz="2800" b="0" i="0" u="none" strike="noStrike" cap="none" normalizeH="0" baseline="0" dirty="0" err="1">
                <a:ln>
                  <a:noFill/>
                </a:ln>
                <a:solidFill>
                  <a:schemeClr val="tx1"/>
                </a:solidFill>
                <a:effectLst/>
                <a:latin typeface="Arial" panose="020B0604020202020204" pitchFamily="34" charset="0"/>
              </a:rPr>
              <a:t>PyShark</a:t>
            </a:r>
            <a:r>
              <a:rPr kumimoji="0" lang="en-US" altLang="en-US" sz="2800" b="0" i="0" u="none" strike="noStrike" cap="none" normalizeH="0" baseline="0" dirty="0">
                <a:ln>
                  <a:noFill/>
                </a:ln>
                <a:solidFill>
                  <a:schemeClr val="tx1"/>
                </a:solidFill>
                <a:effectLst/>
                <a:latin typeface="Arial" panose="020B0604020202020204" pitchFamily="34" charset="0"/>
              </a:rPr>
              <a:t>) to extract: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Arial" panose="020B0604020202020204" pitchFamily="34" charset="0"/>
              </a:rPr>
              <a:t>Packet metadata (source/destination IPs, protocols)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Arial" panose="020B0604020202020204" pitchFamily="34" charset="0"/>
              </a:rPr>
              <a:t>Port information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Arial" panose="020B0604020202020204" pitchFamily="34" charset="0"/>
              </a:rPr>
              <a:t>Packet count and sizes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Arial" panose="020B0604020202020204" pitchFamily="34" charset="0"/>
              </a:rPr>
              <a:t>🧠 Traffic Analysis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Arial" panose="020B0604020202020204" pitchFamily="34" charset="0"/>
              </a:rPr>
              <a:t>Computes: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Arial" panose="020B0604020202020204" pitchFamily="34" charset="0"/>
              </a:rPr>
              <a:t>✅ Total number of packets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Arial" panose="020B0604020202020204" pitchFamily="34" charset="0"/>
              </a:rPr>
              <a:t>✅ Protocol distribution (TCP, UDP, ICMP, etc.)</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Arial" panose="020B0604020202020204" pitchFamily="34" charset="0"/>
              </a:rPr>
              <a:t>✅ Most frequent source/destination IPs and ports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Arial" panose="020B0604020202020204" pitchFamily="34" charset="0"/>
              </a:rPr>
              <a:t>✅ Potential anomalies (e.g., port scans, repeated requests)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Arial" panose="020B0604020202020204" pitchFamily="34" charset="0"/>
              </a:rPr>
              <a:t>📈 Output &amp; Visualization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Arial" panose="020B0604020202020204" pitchFamily="34" charset="0"/>
              </a:rPr>
              <a:t>Displays</a:t>
            </a:r>
            <a:r>
              <a:rPr lang="en-US" altLang="en-US" dirty="0">
                <a:latin typeface="Arial" panose="020B0604020202020204" pitchFamily="34" charset="0"/>
              </a:rPr>
              <a:t> a </a:t>
            </a:r>
            <a:r>
              <a:rPr kumimoji="0" lang="en-US" altLang="en-US" sz="2800" b="0" i="0" u="none" strike="noStrike" cap="none" normalizeH="0" baseline="0" dirty="0">
                <a:ln>
                  <a:noFill/>
                </a:ln>
                <a:solidFill>
                  <a:schemeClr val="tx1"/>
                </a:solidFill>
                <a:effectLst/>
                <a:latin typeface="Arial" panose="020B0604020202020204" pitchFamily="34" charset="0"/>
              </a:rPr>
              <a:t> summary table of analyzed packets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nvGrpSpPr>
          <p:cNvPr id="5" name="Group 4">
            <a:extLst>
              <a:ext uri="{FF2B5EF4-FFF2-40B4-BE49-F238E27FC236}">
                <a16:creationId xmlns:a16="http://schemas.microsoft.com/office/drawing/2014/main" id="{3A2D995B-7400-EB45-3C1D-22D8EB345BEB}"/>
              </a:ext>
            </a:extLst>
          </p:cNvPr>
          <p:cNvGrpSpPr/>
          <p:nvPr/>
        </p:nvGrpSpPr>
        <p:grpSpPr>
          <a:xfrm>
            <a:off x="0" y="0"/>
            <a:ext cx="19010313" cy="588943"/>
            <a:chOff x="-324644" y="2222500"/>
            <a:chExt cx="22261685" cy="1302327"/>
          </a:xfrm>
        </p:grpSpPr>
        <p:sp>
          <p:nvSpPr>
            <p:cNvPr id="6" name="object 2">
              <a:extLst>
                <a:ext uri="{FF2B5EF4-FFF2-40B4-BE49-F238E27FC236}">
                  <a16:creationId xmlns:a16="http://schemas.microsoft.com/office/drawing/2014/main" id="{3C84DCC8-19A8-60E4-81A1-EC2B1E015A22}"/>
                </a:ext>
              </a:extLst>
            </p:cNvPr>
            <p:cNvSpPr/>
            <p:nvPr/>
          </p:nvSpPr>
          <p:spPr>
            <a:xfrm>
              <a:off x="-324644"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009EF3"/>
            </a:solidFill>
          </p:spPr>
          <p:txBody>
            <a:bodyPr wrap="square" lIns="0" tIns="0" rIns="0" bIns="0" rtlCol="0"/>
            <a:lstStyle/>
            <a:p>
              <a:endParaRPr dirty="0"/>
            </a:p>
          </p:txBody>
        </p:sp>
        <p:sp>
          <p:nvSpPr>
            <p:cNvPr id="7" name="object 3">
              <a:extLst>
                <a:ext uri="{FF2B5EF4-FFF2-40B4-BE49-F238E27FC236}">
                  <a16:creationId xmlns:a16="http://schemas.microsoft.com/office/drawing/2014/main" id="{9B3FBAFA-1072-264B-96A4-2F2EBC722D8D}"/>
                </a:ext>
              </a:extLst>
            </p:cNvPr>
            <p:cNvSpPr/>
            <p:nvPr/>
          </p:nvSpPr>
          <p:spPr>
            <a:xfrm>
              <a:off x="16363156" y="2222500"/>
              <a:ext cx="5573885" cy="1302327"/>
            </a:xfrm>
            <a:custGeom>
              <a:avLst/>
              <a:gdLst/>
              <a:ahLst/>
              <a:cxnLst/>
              <a:rect l="l" t="t" r="r" b="b"/>
              <a:pathLst>
                <a:path w="1883409" h="440055">
                  <a:moveTo>
                    <a:pt x="0" y="0"/>
                  </a:moveTo>
                  <a:lnTo>
                    <a:pt x="0" y="439737"/>
                  </a:lnTo>
                  <a:lnTo>
                    <a:pt x="1883155" y="439737"/>
                  </a:lnTo>
                  <a:lnTo>
                    <a:pt x="1883155" y="0"/>
                  </a:lnTo>
                  <a:lnTo>
                    <a:pt x="0" y="0"/>
                  </a:lnTo>
                  <a:close/>
                </a:path>
              </a:pathLst>
            </a:custGeom>
            <a:solidFill>
              <a:srgbClr val="FF8200"/>
            </a:solidFill>
          </p:spPr>
          <p:txBody>
            <a:bodyPr wrap="square" lIns="0" tIns="0" rIns="0" bIns="0" rtlCol="0"/>
            <a:lstStyle/>
            <a:p>
              <a:endParaRPr dirty="0"/>
            </a:p>
          </p:txBody>
        </p:sp>
        <p:sp>
          <p:nvSpPr>
            <p:cNvPr id="8" name="object 2">
              <a:extLst>
                <a:ext uri="{FF2B5EF4-FFF2-40B4-BE49-F238E27FC236}">
                  <a16:creationId xmlns:a16="http://schemas.microsoft.com/office/drawing/2014/main" id="{4AEBDDEB-44F9-4722-E823-E392101E015D}"/>
                </a:ext>
              </a:extLst>
            </p:cNvPr>
            <p:cNvSpPr/>
            <p:nvPr/>
          </p:nvSpPr>
          <p:spPr>
            <a:xfrm>
              <a:off x="5237956"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FFBF00"/>
            </a:solidFill>
          </p:spPr>
          <p:txBody>
            <a:bodyPr wrap="square" lIns="0" tIns="0" rIns="0" bIns="0" rtlCol="0"/>
            <a:lstStyle/>
            <a:p>
              <a:endParaRPr dirty="0"/>
            </a:p>
          </p:txBody>
        </p:sp>
        <p:sp>
          <p:nvSpPr>
            <p:cNvPr id="9" name="object 2">
              <a:extLst>
                <a:ext uri="{FF2B5EF4-FFF2-40B4-BE49-F238E27FC236}">
                  <a16:creationId xmlns:a16="http://schemas.microsoft.com/office/drawing/2014/main" id="{D27BB810-5EC5-765A-3269-988E824E607E}"/>
                </a:ext>
              </a:extLst>
            </p:cNvPr>
            <p:cNvSpPr/>
            <p:nvPr/>
          </p:nvSpPr>
          <p:spPr>
            <a:xfrm>
              <a:off x="10800556"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FFA100"/>
            </a:solidFill>
          </p:spPr>
          <p:txBody>
            <a:bodyPr wrap="square" lIns="0" tIns="0" rIns="0" bIns="0" rtlCol="0"/>
            <a:lstStyle/>
            <a:p>
              <a:endParaRPr dirty="0"/>
            </a:p>
          </p:txBody>
        </p:sp>
      </p:grpSp>
    </p:spTree>
    <p:extLst>
      <p:ext uri="{BB962C8B-B14F-4D97-AF65-F5344CB8AC3E}">
        <p14:creationId xmlns:p14="http://schemas.microsoft.com/office/powerpoint/2010/main" val="318927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15ECB96-8B74-334C-E4D3-7E6647144B04}"/>
              </a:ext>
            </a:extLst>
          </p:cNvPr>
          <p:cNvSpPr>
            <a:spLocks noGrp="1"/>
          </p:cNvSpPr>
          <p:nvPr>
            <p:ph type="dt" sz="half" idx="10"/>
          </p:nvPr>
        </p:nvSpPr>
        <p:spPr/>
        <p:txBody>
          <a:bodyPr/>
          <a:lstStyle/>
          <a:p>
            <a:fld id="{EA8A1AFC-9F3B-438B-B10C-E9A9073FAD5F}" type="datetime1">
              <a:rPr lang="en-IN" smtClean="0"/>
              <a:t>28-10-2025</a:t>
            </a:fld>
            <a:endParaRPr lang="en-IN"/>
          </a:p>
        </p:txBody>
      </p:sp>
      <p:sp>
        <p:nvSpPr>
          <p:cNvPr id="3" name="Slide Number Placeholder 2">
            <a:extLst>
              <a:ext uri="{FF2B5EF4-FFF2-40B4-BE49-F238E27FC236}">
                <a16:creationId xmlns:a16="http://schemas.microsoft.com/office/drawing/2014/main" id="{B6DF0F8C-54AA-75C2-0086-FA08B1B4D3F6}"/>
              </a:ext>
            </a:extLst>
          </p:cNvPr>
          <p:cNvSpPr>
            <a:spLocks noGrp="1"/>
          </p:cNvSpPr>
          <p:nvPr>
            <p:ph type="sldNum" sz="quarter" idx="12"/>
          </p:nvPr>
        </p:nvSpPr>
        <p:spPr/>
        <p:txBody>
          <a:bodyPr/>
          <a:lstStyle/>
          <a:p>
            <a:fld id="{DCC7CF5C-16A0-4876-B638-15BC6385E45C}" type="slidenum">
              <a:rPr lang="en-IN" smtClean="0"/>
              <a:t>14</a:t>
            </a:fld>
            <a:endParaRPr lang="en-IN"/>
          </a:p>
        </p:txBody>
      </p:sp>
      <p:sp>
        <p:nvSpPr>
          <p:cNvPr id="4" name="Title 3">
            <a:extLst>
              <a:ext uri="{FF2B5EF4-FFF2-40B4-BE49-F238E27FC236}">
                <a16:creationId xmlns:a16="http://schemas.microsoft.com/office/drawing/2014/main" id="{7D6F6108-241E-9EA4-B91A-4358DDBCF46F}"/>
              </a:ext>
            </a:extLst>
          </p:cNvPr>
          <p:cNvSpPr>
            <a:spLocks noGrp="1"/>
          </p:cNvSpPr>
          <p:nvPr>
            <p:ph type="title"/>
          </p:nvPr>
        </p:nvSpPr>
        <p:spPr/>
        <p:txBody>
          <a:bodyPr>
            <a:normAutofit/>
          </a:bodyPr>
          <a:lstStyle/>
          <a:p>
            <a:pPr algn="ctr"/>
            <a:r>
              <a:rPr lang="en-IN" sz="6600" dirty="0">
                <a:latin typeface="Bahnschrift SemiBold SemiConden" panose="020B0502040204020203" pitchFamily="34" charset="0"/>
              </a:rPr>
              <a:t>Conclusion</a:t>
            </a:r>
          </a:p>
        </p:txBody>
      </p:sp>
      <p:sp>
        <p:nvSpPr>
          <p:cNvPr id="5" name="Content Placeholder 4">
            <a:extLst>
              <a:ext uri="{FF2B5EF4-FFF2-40B4-BE49-F238E27FC236}">
                <a16:creationId xmlns:a16="http://schemas.microsoft.com/office/drawing/2014/main" id="{4EC6E4EF-A201-046A-1C09-C1AFB4BD9D1E}"/>
              </a:ext>
            </a:extLst>
          </p:cNvPr>
          <p:cNvSpPr>
            <a:spLocks noGrp="1"/>
          </p:cNvSpPr>
          <p:nvPr>
            <p:ph idx="1"/>
          </p:nvPr>
        </p:nvSpPr>
        <p:spPr>
          <a:xfrm>
            <a:off x="936205" y="2846389"/>
            <a:ext cx="17497943" cy="3940471"/>
          </a:xfrm>
        </p:spPr>
        <p:txBody>
          <a:bodyPr>
            <a:normAutofit/>
          </a:bodyPr>
          <a:lstStyle/>
          <a:p>
            <a:pPr>
              <a:buNone/>
            </a:pPr>
            <a:r>
              <a:rPr lang="en-US" sz="4000" dirty="0"/>
              <a:t>The AI-powered cyber defense platform leverages machine learning and deep learning techniques to detect and mitigate cyber threats in real time. By analyzing URLs, Portable Executables (PE) files, and network traffic, the system efficiently identifies potential malware and phishing attempts. This automated approach enhances cybersecurity resilience by reducing manual effort, improving detection accuracy, and enabling proactive threat mitigation.</a:t>
            </a:r>
          </a:p>
          <a:p>
            <a:pPr>
              <a:buNone/>
            </a:pPr>
            <a:endParaRPr lang="en-US" sz="4000" dirty="0"/>
          </a:p>
          <a:p>
            <a:pPr marL="0" indent="0">
              <a:buNone/>
            </a:pPr>
            <a:endParaRPr lang="en-IN" dirty="0"/>
          </a:p>
        </p:txBody>
      </p:sp>
      <p:grpSp>
        <p:nvGrpSpPr>
          <p:cNvPr id="6" name="Group 5">
            <a:extLst>
              <a:ext uri="{FF2B5EF4-FFF2-40B4-BE49-F238E27FC236}">
                <a16:creationId xmlns:a16="http://schemas.microsoft.com/office/drawing/2014/main" id="{333CDF21-662F-D16F-D32B-DA9857C4D98A}"/>
              </a:ext>
            </a:extLst>
          </p:cNvPr>
          <p:cNvGrpSpPr/>
          <p:nvPr/>
        </p:nvGrpSpPr>
        <p:grpSpPr>
          <a:xfrm>
            <a:off x="0" y="0"/>
            <a:ext cx="19010313" cy="588943"/>
            <a:chOff x="-324644" y="2222500"/>
            <a:chExt cx="22261685" cy="1302327"/>
          </a:xfrm>
        </p:grpSpPr>
        <p:sp>
          <p:nvSpPr>
            <p:cNvPr id="7" name="object 2">
              <a:extLst>
                <a:ext uri="{FF2B5EF4-FFF2-40B4-BE49-F238E27FC236}">
                  <a16:creationId xmlns:a16="http://schemas.microsoft.com/office/drawing/2014/main" id="{B93FC08A-1B3E-7CC6-10BA-0D9511C4D639}"/>
                </a:ext>
              </a:extLst>
            </p:cNvPr>
            <p:cNvSpPr/>
            <p:nvPr/>
          </p:nvSpPr>
          <p:spPr>
            <a:xfrm>
              <a:off x="-324644"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009EF3"/>
            </a:solidFill>
          </p:spPr>
          <p:txBody>
            <a:bodyPr wrap="square" lIns="0" tIns="0" rIns="0" bIns="0" rtlCol="0"/>
            <a:lstStyle/>
            <a:p>
              <a:endParaRPr dirty="0"/>
            </a:p>
          </p:txBody>
        </p:sp>
        <p:sp>
          <p:nvSpPr>
            <p:cNvPr id="8" name="object 3">
              <a:extLst>
                <a:ext uri="{FF2B5EF4-FFF2-40B4-BE49-F238E27FC236}">
                  <a16:creationId xmlns:a16="http://schemas.microsoft.com/office/drawing/2014/main" id="{F2F35C77-6E2B-EE87-2347-73B02A86E27B}"/>
                </a:ext>
              </a:extLst>
            </p:cNvPr>
            <p:cNvSpPr/>
            <p:nvPr/>
          </p:nvSpPr>
          <p:spPr>
            <a:xfrm>
              <a:off x="16363156" y="2222500"/>
              <a:ext cx="5573885" cy="1302327"/>
            </a:xfrm>
            <a:custGeom>
              <a:avLst/>
              <a:gdLst/>
              <a:ahLst/>
              <a:cxnLst/>
              <a:rect l="l" t="t" r="r" b="b"/>
              <a:pathLst>
                <a:path w="1883409" h="440055">
                  <a:moveTo>
                    <a:pt x="0" y="0"/>
                  </a:moveTo>
                  <a:lnTo>
                    <a:pt x="0" y="439737"/>
                  </a:lnTo>
                  <a:lnTo>
                    <a:pt x="1883155" y="439737"/>
                  </a:lnTo>
                  <a:lnTo>
                    <a:pt x="1883155" y="0"/>
                  </a:lnTo>
                  <a:lnTo>
                    <a:pt x="0" y="0"/>
                  </a:lnTo>
                  <a:close/>
                </a:path>
              </a:pathLst>
            </a:custGeom>
            <a:solidFill>
              <a:srgbClr val="FF8200"/>
            </a:solidFill>
          </p:spPr>
          <p:txBody>
            <a:bodyPr wrap="square" lIns="0" tIns="0" rIns="0" bIns="0" rtlCol="0"/>
            <a:lstStyle/>
            <a:p>
              <a:endParaRPr dirty="0"/>
            </a:p>
          </p:txBody>
        </p:sp>
        <p:sp>
          <p:nvSpPr>
            <p:cNvPr id="9" name="object 2">
              <a:extLst>
                <a:ext uri="{FF2B5EF4-FFF2-40B4-BE49-F238E27FC236}">
                  <a16:creationId xmlns:a16="http://schemas.microsoft.com/office/drawing/2014/main" id="{2FC0876F-A11F-63AA-8366-7AE0394BC868}"/>
                </a:ext>
              </a:extLst>
            </p:cNvPr>
            <p:cNvSpPr/>
            <p:nvPr/>
          </p:nvSpPr>
          <p:spPr>
            <a:xfrm>
              <a:off x="5237956"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FFBF00"/>
            </a:solidFill>
          </p:spPr>
          <p:txBody>
            <a:bodyPr wrap="square" lIns="0" tIns="0" rIns="0" bIns="0" rtlCol="0"/>
            <a:lstStyle/>
            <a:p>
              <a:endParaRPr dirty="0"/>
            </a:p>
          </p:txBody>
        </p:sp>
        <p:sp>
          <p:nvSpPr>
            <p:cNvPr id="10" name="object 2">
              <a:extLst>
                <a:ext uri="{FF2B5EF4-FFF2-40B4-BE49-F238E27FC236}">
                  <a16:creationId xmlns:a16="http://schemas.microsoft.com/office/drawing/2014/main" id="{7392866F-34B4-60C0-152C-4A8CC8AD80F6}"/>
                </a:ext>
              </a:extLst>
            </p:cNvPr>
            <p:cNvSpPr/>
            <p:nvPr/>
          </p:nvSpPr>
          <p:spPr>
            <a:xfrm>
              <a:off x="10800556"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FFA100"/>
            </a:solidFill>
          </p:spPr>
          <p:txBody>
            <a:bodyPr wrap="square" lIns="0" tIns="0" rIns="0" bIns="0" rtlCol="0"/>
            <a:lstStyle/>
            <a:p>
              <a:endParaRPr dirty="0"/>
            </a:p>
          </p:txBody>
        </p:sp>
      </p:grpSp>
    </p:spTree>
    <p:extLst>
      <p:ext uri="{BB962C8B-B14F-4D97-AF65-F5344CB8AC3E}">
        <p14:creationId xmlns:p14="http://schemas.microsoft.com/office/powerpoint/2010/main" val="6024227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A0ECA3-9141-206E-2ABD-98F77B4CBCB8}"/>
              </a:ext>
            </a:extLst>
          </p:cNvPr>
          <p:cNvSpPr>
            <a:spLocks noGrp="1"/>
          </p:cNvSpPr>
          <p:nvPr>
            <p:ph type="dt" sz="half" idx="10"/>
          </p:nvPr>
        </p:nvSpPr>
        <p:spPr/>
        <p:txBody>
          <a:bodyPr/>
          <a:lstStyle/>
          <a:p>
            <a:fld id="{EA8A1AFC-9F3B-438B-B10C-E9A9073FAD5F}" type="datetime1">
              <a:rPr lang="en-IN" smtClean="0"/>
              <a:t>28-10-2025</a:t>
            </a:fld>
            <a:endParaRPr lang="en-IN"/>
          </a:p>
        </p:txBody>
      </p:sp>
      <p:sp>
        <p:nvSpPr>
          <p:cNvPr id="3" name="Slide Number Placeholder 2">
            <a:extLst>
              <a:ext uri="{FF2B5EF4-FFF2-40B4-BE49-F238E27FC236}">
                <a16:creationId xmlns:a16="http://schemas.microsoft.com/office/drawing/2014/main" id="{0E625F7D-1E21-F5E2-7AAC-E808632FE9D9}"/>
              </a:ext>
            </a:extLst>
          </p:cNvPr>
          <p:cNvSpPr>
            <a:spLocks noGrp="1"/>
          </p:cNvSpPr>
          <p:nvPr>
            <p:ph type="sldNum" sz="quarter" idx="12"/>
          </p:nvPr>
        </p:nvSpPr>
        <p:spPr/>
        <p:txBody>
          <a:bodyPr/>
          <a:lstStyle/>
          <a:p>
            <a:fld id="{DCC7CF5C-16A0-4876-B638-15BC6385E45C}" type="slidenum">
              <a:rPr lang="en-IN" smtClean="0"/>
              <a:t>15</a:t>
            </a:fld>
            <a:endParaRPr lang="en-IN"/>
          </a:p>
        </p:txBody>
      </p:sp>
      <p:sp>
        <p:nvSpPr>
          <p:cNvPr id="4" name="Title 3">
            <a:extLst>
              <a:ext uri="{FF2B5EF4-FFF2-40B4-BE49-F238E27FC236}">
                <a16:creationId xmlns:a16="http://schemas.microsoft.com/office/drawing/2014/main" id="{09F6BF0C-9B85-A190-9A31-E7484B8DA66F}"/>
              </a:ext>
            </a:extLst>
          </p:cNvPr>
          <p:cNvSpPr>
            <a:spLocks noGrp="1"/>
          </p:cNvSpPr>
          <p:nvPr>
            <p:ph type="title"/>
          </p:nvPr>
        </p:nvSpPr>
        <p:spPr/>
        <p:txBody>
          <a:bodyPr>
            <a:normAutofit/>
          </a:bodyPr>
          <a:lstStyle/>
          <a:p>
            <a:pPr algn="ctr"/>
            <a:r>
              <a:rPr lang="en-US" sz="6600" b="1" dirty="0">
                <a:latin typeface="Bahnschrift SemiLight Condensed" panose="020B0502040204020203" pitchFamily="34" charset="0"/>
              </a:rPr>
              <a:t>Future Work</a:t>
            </a:r>
            <a:endParaRPr lang="en-IN" sz="6600" dirty="0">
              <a:latin typeface="Bahnschrift SemiLight Condensed" panose="020B0502040204020203" pitchFamily="34" charset="0"/>
            </a:endParaRPr>
          </a:p>
        </p:txBody>
      </p:sp>
      <p:sp>
        <p:nvSpPr>
          <p:cNvPr id="5" name="Content Placeholder 4">
            <a:extLst>
              <a:ext uri="{FF2B5EF4-FFF2-40B4-BE49-F238E27FC236}">
                <a16:creationId xmlns:a16="http://schemas.microsoft.com/office/drawing/2014/main" id="{934AE7B7-3D8B-221C-3F12-FA81D9A9357D}"/>
              </a:ext>
            </a:extLst>
          </p:cNvPr>
          <p:cNvSpPr>
            <a:spLocks noGrp="1"/>
          </p:cNvSpPr>
          <p:nvPr>
            <p:ph idx="1"/>
          </p:nvPr>
        </p:nvSpPr>
        <p:spPr>
          <a:xfrm>
            <a:off x="1306513" y="2846388"/>
            <a:ext cx="16767595" cy="7064375"/>
          </a:xfrm>
        </p:spPr>
        <p:txBody>
          <a:bodyPr>
            <a:normAutofit fontScale="92500"/>
          </a:bodyPr>
          <a:lstStyle/>
          <a:p>
            <a:pPr>
              <a:buFont typeface="+mj-lt"/>
              <a:buAutoNum type="arabicPeriod"/>
            </a:pPr>
            <a:r>
              <a:rPr lang="en-US" b="1" dirty="0"/>
              <a:t>Virus Total &amp; Hybrid Analysis API Integration</a:t>
            </a:r>
            <a:r>
              <a:rPr lang="en-US" dirty="0"/>
              <a:t> – Using online threat intelligence services for real-time malware scanning and classification.</a:t>
            </a:r>
          </a:p>
          <a:p>
            <a:pPr>
              <a:buFont typeface="+mj-lt"/>
              <a:buAutoNum type="arabicPeriod"/>
            </a:pPr>
            <a:r>
              <a:rPr lang="en-US" b="1" dirty="0"/>
              <a:t>YARA Rules Implementation</a:t>
            </a:r>
            <a:r>
              <a:rPr lang="en-US" dirty="0"/>
              <a:t> – Enhancing detection by writing custom YARA rules for identifying malware patterns.</a:t>
            </a:r>
          </a:p>
          <a:p>
            <a:pPr>
              <a:buFont typeface="+mj-lt"/>
              <a:buAutoNum type="arabicPeriod"/>
            </a:pPr>
            <a:r>
              <a:rPr lang="en-US" b="1" dirty="0"/>
              <a:t>Real-Time Packet Inspection</a:t>
            </a:r>
            <a:r>
              <a:rPr lang="en-US" dirty="0"/>
              <a:t> – Deploying deep packet inspection (DPI) to analyze network traffic in real-time.</a:t>
            </a:r>
          </a:p>
          <a:p>
            <a:pPr>
              <a:buFont typeface="+mj-lt"/>
              <a:buAutoNum type="arabicPeriod"/>
            </a:pPr>
            <a:r>
              <a:rPr lang="en-US" b="1" dirty="0"/>
              <a:t>Federated Learning for Threat Detection</a:t>
            </a:r>
            <a:r>
              <a:rPr lang="en-US" dirty="0"/>
              <a:t> – Training AI models across multiple endpoints without centralizing sensitive data.</a:t>
            </a:r>
          </a:p>
          <a:p>
            <a:pPr>
              <a:buFont typeface="+mj-lt"/>
              <a:buAutoNum type="arabicPeriod"/>
            </a:pPr>
            <a:r>
              <a:rPr lang="en-US" b="1" dirty="0"/>
              <a:t>Blockchain for Threat Intelligence Sharing</a:t>
            </a:r>
            <a:r>
              <a:rPr lang="en-US" dirty="0"/>
              <a:t> – Using decentralized networks to share threat data securely and prevent tampering.</a:t>
            </a:r>
          </a:p>
          <a:p>
            <a:pPr>
              <a:buFont typeface="+mj-lt"/>
              <a:buAutoNum type="arabicPeriod"/>
            </a:pPr>
            <a:r>
              <a:rPr lang="en-US" b="1" dirty="0"/>
              <a:t>GPU Acceleration for Faster Analysis</a:t>
            </a:r>
            <a:r>
              <a:rPr lang="en-US" dirty="0"/>
              <a:t> – Leveraging high-performance computing for real-time inference with deep learning.</a:t>
            </a:r>
          </a:p>
          <a:p>
            <a:pPr>
              <a:buFont typeface="+mj-lt"/>
              <a:buAutoNum type="arabicPeriod"/>
            </a:pPr>
            <a:r>
              <a:rPr lang="en-US" b="1" dirty="0"/>
              <a:t>Behavioral Analysis with Sandboxing</a:t>
            </a:r>
            <a:r>
              <a:rPr lang="en-US" dirty="0"/>
              <a:t> – Executing suspicious files in a virtualized environment to observe malicious behavior.</a:t>
            </a:r>
          </a:p>
          <a:p>
            <a:pPr>
              <a:buFont typeface="+mj-lt"/>
              <a:buAutoNum type="arabicPeriod"/>
            </a:pPr>
            <a:r>
              <a:rPr lang="en-US" b="1" dirty="0"/>
              <a:t>Zero-Day Threat Detection using AI</a:t>
            </a:r>
            <a:r>
              <a:rPr lang="en-US" dirty="0"/>
              <a:t> – Implementing anomaly detection models to identify unknown cyber threats.</a:t>
            </a:r>
          </a:p>
          <a:p>
            <a:pPr>
              <a:buFont typeface="+mj-lt"/>
              <a:buAutoNum type="arabicPeriod"/>
            </a:pPr>
            <a:r>
              <a:rPr lang="en-US" b="1" dirty="0"/>
              <a:t>Automated Incident Response System</a:t>
            </a:r>
            <a:r>
              <a:rPr lang="en-US" dirty="0"/>
              <a:t> – Deploying AI-driven playbooks to isolate threats and mitigate attacks instantly.</a:t>
            </a:r>
          </a:p>
          <a:p>
            <a:pPr>
              <a:buFont typeface="+mj-lt"/>
              <a:buAutoNum type="arabicPeriod"/>
            </a:pPr>
            <a:r>
              <a:rPr lang="en-US" b="1" dirty="0"/>
              <a:t>Edge AI for Endpoint Security</a:t>
            </a:r>
            <a:r>
              <a:rPr lang="en-US" dirty="0"/>
              <a:t> – Running lightweight AI models on IoT devices and edge systems for instant detection and response.</a:t>
            </a:r>
          </a:p>
          <a:p>
            <a:pPr marL="0" indent="0">
              <a:buNone/>
            </a:pPr>
            <a:endParaRPr lang="en-IN" dirty="0"/>
          </a:p>
        </p:txBody>
      </p:sp>
      <p:grpSp>
        <p:nvGrpSpPr>
          <p:cNvPr id="6" name="Group 5">
            <a:extLst>
              <a:ext uri="{FF2B5EF4-FFF2-40B4-BE49-F238E27FC236}">
                <a16:creationId xmlns:a16="http://schemas.microsoft.com/office/drawing/2014/main" id="{54880A2A-7B35-B206-AF1F-353DA655DBF7}"/>
              </a:ext>
            </a:extLst>
          </p:cNvPr>
          <p:cNvGrpSpPr/>
          <p:nvPr/>
        </p:nvGrpSpPr>
        <p:grpSpPr>
          <a:xfrm>
            <a:off x="0" y="0"/>
            <a:ext cx="19010313" cy="588943"/>
            <a:chOff x="-324644" y="2222500"/>
            <a:chExt cx="22261685" cy="1302327"/>
          </a:xfrm>
        </p:grpSpPr>
        <p:sp>
          <p:nvSpPr>
            <p:cNvPr id="7" name="object 2">
              <a:extLst>
                <a:ext uri="{FF2B5EF4-FFF2-40B4-BE49-F238E27FC236}">
                  <a16:creationId xmlns:a16="http://schemas.microsoft.com/office/drawing/2014/main" id="{67F2A9D6-5F49-ED89-B230-B1F2E7A1DC6C}"/>
                </a:ext>
              </a:extLst>
            </p:cNvPr>
            <p:cNvSpPr/>
            <p:nvPr/>
          </p:nvSpPr>
          <p:spPr>
            <a:xfrm>
              <a:off x="-324644"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009EF3"/>
            </a:solidFill>
          </p:spPr>
          <p:txBody>
            <a:bodyPr wrap="square" lIns="0" tIns="0" rIns="0" bIns="0" rtlCol="0"/>
            <a:lstStyle/>
            <a:p>
              <a:endParaRPr dirty="0"/>
            </a:p>
          </p:txBody>
        </p:sp>
        <p:sp>
          <p:nvSpPr>
            <p:cNvPr id="8" name="object 3">
              <a:extLst>
                <a:ext uri="{FF2B5EF4-FFF2-40B4-BE49-F238E27FC236}">
                  <a16:creationId xmlns:a16="http://schemas.microsoft.com/office/drawing/2014/main" id="{3F081153-1E3D-EA80-DAC9-0DE7D5D108FA}"/>
                </a:ext>
              </a:extLst>
            </p:cNvPr>
            <p:cNvSpPr/>
            <p:nvPr/>
          </p:nvSpPr>
          <p:spPr>
            <a:xfrm>
              <a:off x="16363156" y="2222500"/>
              <a:ext cx="5573885" cy="1302327"/>
            </a:xfrm>
            <a:custGeom>
              <a:avLst/>
              <a:gdLst/>
              <a:ahLst/>
              <a:cxnLst/>
              <a:rect l="l" t="t" r="r" b="b"/>
              <a:pathLst>
                <a:path w="1883409" h="440055">
                  <a:moveTo>
                    <a:pt x="0" y="0"/>
                  </a:moveTo>
                  <a:lnTo>
                    <a:pt x="0" y="439737"/>
                  </a:lnTo>
                  <a:lnTo>
                    <a:pt x="1883155" y="439737"/>
                  </a:lnTo>
                  <a:lnTo>
                    <a:pt x="1883155" y="0"/>
                  </a:lnTo>
                  <a:lnTo>
                    <a:pt x="0" y="0"/>
                  </a:lnTo>
                  <a:close/>
                </a:path>
              </a:pathLst>
            </a:custGeom>
            <a:solidFill>
              <a:srgbClr val="FF8200"/>
            </a:solidFill>
          </p:spPr>
          <p:txBody>
            <a:bodyPr wrap="square" lIns="0" tIns="0" rIns="0" bIns="0" rtlCol="0"/>
            <a:lstStyle/>
            <a:p>
              <a:endParaRPr dirty="0"/>
            </a:p>
          </p:txBody>
        </p:sp>
        <p:sp>
          <p:nvSpPr>
            <p:cNvPr id="9" name="object 2">
              <a:extLst>
                <a:ext uri="{FF2B5EF4-FFF2-40B4-BE49-F238E27FC236}">
                  <a16:creationId xmlns:a16="http://schemas.microsoft.com/office/drawing/2014/main" id="{7D2B3B49-B62A-1A06-CDD1-03FA2B2C2645}"/>
                </a:ext>
              </a:extLst>
            </p:cNvPr>
            <p:cNvSpPr/>
            <p:nvPr/>
          </p:nvSpPr>
          <p:spPr>
            <a:xfrm>
              <a:off x="5237956"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FFBF00"/>
            </a:solidFill>
          </p:spPr>
          <p:txBody>
            <a:bodyPr wrap="square" lIns="0" tIns="0" rIns="0" bIns="0" rtlCol="0"/>
            <a:lstStyle/>
            <a:p>
              <a:endParaRPr dirty="0"/>
            </a:p>
          </p:txBody>
        </p:sp>
        <p:sp>
          <p:nvSpPr>
            <p:cNvPr id="10" name="object 2">
              <a:extLst>
                <a:ext uri="{FF2B5EF4-FFF2-40B4-BE49-F238E27FC236}">
                  <a16:creationId xmlns:a16="http://schemas.microsoft.com/office/drawing/2014/main" id="{1B6AB2BE-D3CB-93AD-893B-E210F1996330}"/>
                </a:ext>
              </a:extLst>
            </p:cNvPr>
            <p:cNvSpPr/>
            <p:nvPr/>
          </p:nvSpPr>
          <p:spPr>
            <a:xfrm>
              <a:off x="10800556"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FFA100"/>
            </a:solidFill>
          </p:spPr>
          <p:txBody>
            <a:bodyPr wrap="square" lIns="0" tIns="0" rIns="0" bIns="0" rtlCol="0"/>
            <a:lstStyle/>
            <a:p>
              <a:endParaRPr dirty="0"/>
            </a:p>
          </p:txBody>
        </p:sp>
      </p:grpSp>
    </p:spTree>
    <p:extLst>
      <p:ext uri="{BB962C8B-B14F-4D97-AF65-F5344CB8AC3E}">
        <p14:creationId xmlns:p14="http://schemas.microsoft.com/office/powerpoint/2010/main" val="2019330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0A2AEF-9C50-7971-61FA-1F15DA607BCD}"/>
              </a:ext>
            </a:extLst>
          </p:cNvPr>
          <p:cNvSpPr>
            <a:spLocks noGrp="1"/>
          </p:cNvSpPr>
          <p:nvPr>
            <p:ph type="dt" sz="half" idx="10"/>
          </p:nvPr>
        </p:nvSpPr>
        <p:spPr/>
        <p:txBody>
          <a:bodyPr/>
          <a:lstStyle/>
          <a:p>
            <a:fld id="{EA8A1AFC-9F3B-438B-B10C-E9A9073FAD5F}" type="datetime1">
              <a:rPr lang="en-IN" smtClean="0"/>
              <a:t>28-10-2025</a:t>
            </a:fld>
            <a:endParaRPr lang="en-IN"/>
          </a:p>
        </p:txBody>
      </p:sp>
      <p:sp>
        <p:nvSpPr>
          <p:cNvPr id="3" name="Slide Number Placeholder 2">
            <a:extLst>
              <a:ext uri="{FF2B5EF4-FFF2-40B4-BE49-F238E27FC236}">
                <a16:creationId xmlns:a16="http://schemas.microsoft.com/office/drawing/2014/main" id="{A628E652-11B0-8A14-DC85-DA6F958749FF}"/>
              </a:ext>
            </a:extLst>
          </p:cNvPr>
          <p:cNvSpPr>
            <a:spLocks noGrp="1"/>
          </p:cNvSpPr>
          <p:nvPr>
            <p:ph type="sldNum" sz="quarter" idx="12"/>
          </p:nvPr>
        </p:nvSpPr>
        <p:spPr>
          <a:xfrm>
            <a:off x="13399060" y="9910763"/>
            <a:ext cx="4278312" cy="569912"/>
          </a:xfrm>
        </p:spPr>
        <p:txBody>
          <a:bodyPr/>
          <a:lstStyle/>
          <a:p>
            <a:fld id="{DCC7CF5C-16A0-4876-B638-15BC6385E45C}" type="slidenum">
              <a:rPr lang="en-IN" smtClean="0"/>
              <a:t>16</a:t>
            </a:fld>
            <a:endParaRPr lang="en-IN"/>
          </a:p>
        </p:txBody>
      </p:sp>
      <p:sp>
        <p:nvSpPr>
          <p:cNvPr id="4" name="Title 3">
            <a:extLst>
              <a:ext uri="{FF2B5EF4-FFF2-40B4-BE49-F238E27FC236}">
                <a16:creationId xmlns:a16="http://schemas.microsoft.com/office/drawing/2014/main" id="{6FF39CAD-E6CD-970E-2651-059F37EACEC5}"/>
              </a:ext>
            </a:extLst>
          </p:cNvPr>
          <p:cNvSpPr>
            <a:spLocks noGrp="1"/>
          </p:cNvSpPr>
          <p:nvPr>
            <p:ph type="title"/>
          </p:nvPr>
        </p:nvSpPr>
        <p:spPr/>
        <p:txBody>
          <a:bodyPr>
            <a:normAutofit/>
          </a:bodyPr>
          <a:lstStyle/>
          <a:p>
            <a:pPr algn="ctr"/>
            <a:r>
              <a:rPr lang="en-IN" sz="6600" b="1" dirty="0">
                <a:latin typeface="Bahnschrift SemiBold Condensed" panose="020B0502040204020203" pitchFamily="34" charset="0"/>
              </a:rPr>
              <a:t>References</a:t>
            </a:r>
            <a:r>
              <a:rPr lang="en-IN" sz="6600" b="1" dirty="0">
                <a:latin typeface="Bahnschrift SemiLight Condensed" panose="020B0502040204020203" pitchFamily="34" charset="0"/>
              </a:rPr>
              <a:t> </a:t>
            </a:r>
          </a:p>
        </p:txBody>
      </p:sp>
      <p:sp>
        <p:nvSpPr>
          <p:cNvPr id="5" name="Content Placeholder 4">
            <a:extLst>
              <a:ext uri="{FF2B5EF4-FFF2-40B4-BE49-F238E27FC236}">
                <a16:creationId xmlns:a16="http://schemas.microsoft.com/office/drawing/2014/main" id="{9D535EAF-A5C1-7251-DE5A-10774B0F65AA}"/>
              </a:ext>
            </a:extLst>
          </p:cNvPr>
          <p:cNvSpPr>
            <a:spLocks noGrp="1"/>
          </p:cNvSpPr>
          <p:nvPr>
            <p:ph idx="1"/>
          </p:nvPr>
        </p:nvSpPr>
        <p:spPr>
          <a:xfrm>
            <a:off x="1306513" y="2846389"/>
            <a:ext cx="16397287" cy="5812680"/>
          </a:xfrm>
        </p:spPr>
        <p:txBody>
          <a:bodyPr/>
          <a:lstStyle/>
          <a:p>
            <a:pPr>
              <a:buNone/>
            </a:pPr>
            <a:r>
              <a:rPr lang="en-IN" dirty="0"/>
              <a:t>[1] U. Bayer, P. </a:t>
            </a:r>
            <a:r>
              <a:rPr lang="en-IN" dirty="0" err="1"/>
              <a:t>Comparetti</a:t>
            </a:r>
            <a:r>
              <a:rPr lang="en-IN" dirty="0"/>
              <a:t>, C. </a:t>
            </a:r>
            <a:r>
              <a:rPr lang="en-IN" dirty="0" err="1"/>
              <a:t>Hlauschek</a:t>
            </a:r>
            <a:r>
              <a:rPr lang="en-IN" dirty="0"/>
              <a:t>, C. Kruegel, and E. </a:t>
            </a:r>
            <a:r>
              <a:rPr lang="en-IN" dirty="0" err="1"/>
              <a:t>Kirda</a:t>
            </a:r>
            <a:r>
              <a:rPr lang="en-IN" dirty="0"/>
              <a:t>, “Scalable, </a:t>
            </a:r>
            <a:r>
              <a:rPr lang="en-IN" dirty="0" err="1"/>
              <a:t>Behavior</a:t>
            </a:r>
            <a:r>
              <a:rPr lang="en-IN" dirty="0"/>
              <a:t>-Based Malware Clustering,” in </a:t>
            </a:r>
            <a:r>
              <a:rPr lang="en-IN" i="1" dirty="0"/>
              <a:t>NDSS</a:t>
            </a:r>
            <a:r>
              <a:rPr lang="en-IN" dirty="0"/>
              <a:t>, 2009.</a:t>
            </a:r>
          </a:p>
          <a:p>
            <a:pPr>
              <a:buNone/>
            </a:pPr>
            <a:r>
              <a:rPr lang="en-IN" dirty="0"/>
              <a:t>[2] S. Pascucci, P. </a:t>
            </a:r>
            <a:r>
              <a:rPr lang="en-IN" dirty="0" err="1"/>
              <a:t>Ruiu</a:t>
            </a:r>
            <a:r>
              <a:rPr lang="en-IN" dirty="0"/>
              <a:t>, L. Satta, and R. A. Calvo, “Real-Time Malware Detection and Classification using Machine Learning,” </a:t>
            </a:r>
            <a:r>
              <a:rPr lang="en-IN" i="1" dirty="0"/>
              <a:t>IEEE Transactions on Information Forensics and Security</a:t>
            </a:r>
            <a:r>
              <a:rPr lang="en-IN" dirty="0"/>
              <a:t>, vol. 16, pp. 1–14, 2021.</a:t>
            </a:r>
          </a:p>
          <a:p>
            <a:pPr>
              <a:buNone/>
            </a:pPr>
            <a:r>
              <a:rPr lang="en-IN" dirty="0"/>
              <a:t>[3] F. Raff, F. </a:t>
            </a:r>
            <a:r>
              <a:rPr lang="en-IN" dirty="0" err="1"/>
              <a:t>Kreuzberger</a:t>
            </a:r>
            <a:r>
              <a:rPr lang="en-IN" dirty="0"/>
              <a:t>, and R. Spahn, “Malware Detection by Behavioural Sandbox Analysis,” </a:t>
            </a:r>
            <a:r>
              <a:rPr lang="en-IN" i="1" dirty="0"/>
              <a:t>Journal of Cybersecurity</a:t>
            </a:r>
            <a:r>
              <a:rPr lang="en-IN" dirty="0"/>
              <a:t>, vol. 5, no. 1, pp. 1–12, 2020.</a:t>
            </a:r>
          </a:p>
          <a:p>
            <a:pPr>
              <a:buNone/>
            </a:pPr>
            <a:r>
              <a:rPr lang="en-IN" dirty="0"/>
              <a:t>[4] J. Zuech, I. M. S. Albrecht, and T. G. Dietterich, “Machine Learning Strategies for Malware Detection,” </a:t>
            </a:r>
            <a:r>
              <a:rPr lang="en-IN" i="1" dirty="0"/>
              <a:t>ACM Computing Surveys</a:t>
            </a:r>
            <a:r>
              <a:rPr lang="en-IN" dirty="0"/>
              <a:t>, vol. 53, no. 2, pp. 1–36, 2021.</a:t>
            </a:r>
          </a:p>
          <a:p>
            <a:pPr>
              <a:buNone/>
            </a:pPr>
            <a:r>
              <a:rPr lang="en-IN" dirty="0"/>
              <a:t>[5] </a:t>
            </a:r>
            <a:r>
              <a:rPr lang="en-IN" dirty="0" err="1"/>
              <a:t>VirusTotal</a:t>
            </a:r>
            <a:r>
              <a:rPr lang="en-IN" dirty="0"/>
              <a:t> API, “Automated Malware Scanning and Threat Intelligence,” [Online]. Available: https://www.virustotal.com/gui/home/upload, 2024.</a:t>
            </a:r>
          </a:p>
          <a:p>
            <a:pPr marL="0" indent="0">
              <a:buNone/>
            </a:pPr>
            <a:r>
              <a:rPr lang="en-IN" dirty="0"/>
              <a:t>[6] YARA Project, “YARA - The pattern matching Swiss knife for malware researchers,” [Online]. Available: </a:t>
            </a:r>
            <a:r>
              <a:rPr lang="en-IN" dirty="0">
                <a:hlinkClick r:id="rId2"/>
              </a:rPr>
              <a:t>https://yara.readthedocs.io/en/stable/</a:t>
            </a:r>
            <a:r>
              <a:rPr lang="en-IN" dirty="0"/>
              <a:t>, 2024.</a:t>
            </a:r>
          </a:p>
          <a:p>
            <a:pPr marL="0" indent="0">
              <a:buNone/>
            </a:pPr>
            <a:endParaRPr lang="en-IN" dirty="0"/>
          </a:p>
        </p:txBody>
      </p:sp>
      <p:grpSp>
        <p:nvGrpSpPr>
          <p:cNvPr id="6" name="Group 5">
            <a:extLst>
              <a:ext uri="{FF2B5EF4-FFF2-40B4-BE49-F238E27FC236}">
                <a16:creationId xmlns:a16="http://schemas.microsoft.com/office/drawing/2014/main" id="{DE80A977-275A-AD87-DF4C-4D8BA9864D9A}"/>
              </a:ext>
            </a:extLst>
          </p:cNvPr>
          <p:cNvGrpSpPr/>
          <p:nvPr/>
        </p:nvGrpSpPr>
        <p:grpSpPr>
          <a:xfrm>
            <a:off x="0" y="0"/>
            <a:ext cx="19010313" cy="588943"/>
            <a:chOff x="-324644" y="2222500"/>
            <a:chExt cx="22261685" cy="1302327"/>
          </a:xfrm>
        </p:grpSpPr>
        <p:sp>
          <p:nvSpPr>
            <p:cNvPr id="7" name="object 2">
              <a:extLst>
                <a:ext uri="{FF2B5EF4-FFF2-40B4-BE49-F238E27FC236}">
                  <a16:creationId xmlns:a16="http://schemas.microsoft.com/office/drawing/2014/main" id="{75223B98-3573-7796-F0BD-2991F955FB24}"/>
                </a:ext>
              </a:extLst>
            </p:cNvPr>
            <p:cNvSpPr/>
            <p:nvPr/>
          </p:nvSpPr>
          <p:spPr>
            <a:xfrm>
              <a:off x="-324644"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009EF3"/>
            </a:solidFill>
          </p:spPr>
          <p:txBody>
            <a:bodyPr wrap="square" lIns="0" tIns="0" rIns="0" bIns="0" rtlCol="0"/>
            <a:lstStyle/>
            <a:p>
              <a:endParaRPr dirty="0"/>
            </a:p>
          </p:txBody>
        </p:sp>
        <p:sp>
          <p:nvSpPr>
            <p:cNvPr id="8" name="object 3">
              <a:extLst>
                <a:ext uri="{FF2B5EF4-FFF2-40B4-BE49-F238E27FC236}">
                  <a16:creationId xmlns:a16="http://schemas.microsoft.com/office/drawing/2014/main" id="{28E66060-AA1D-D042-C4D7-3172F9FA548B}"/>
                </a:ext>
              </a:extLst>
            </p:cNvPr>
            <p:cNvSpPr/>
            <p:nvPr/>
          </p:nvSpPr>
          <p:spPr>
            <a:xfrm>
              <a:off x="16363156" y="2222500"/>
              <a:ext cx="5573885" cy="1302327"/>
            </a:xfrm>
            <a:custGeom>
              <a:avLst/>
              <a:gdLst/>
              <a:ahLst/>
              <a:cxnLst/>
              <a:rect l="l" t="t" r="r" b="b"/>
              <a:pathLst>
                <a:path w="1883409" h="440055">
                  <a:moveTo>
                    <a:pt x="0" y="0"/>
                  </a:moveTo>
                  <a:lnTo>
                    <a:pt x="0" y="439737"/>
                  </a:lnTo>
                  <a:lnTo>
                    <a:pt x="1883155" y="439737"/>
                  </a:lnTo>
                  <a:lnTo>
                    <a:pt x="1883155" y="0"/>
                  </a:lnTo>
                  <a:lnTo>
                    <a:pt x="0" y="0"/>
                  </a:lnTo>
                  <a:close/>
                </a:path>
              </a:pathLst>
            </a:custGeom>
            <a:solidFill>
              <a:srgbClr val="FF8200"/>
            </a:solidFill>
          </p:spPr>
          <p:txBody>
            <a:bodyPr wrap="square" lIns="0" tIns="0" rIns="0" bIns="0" rtlCol="0"/>
            <a:lstStyle/>
            <a:p>
              <a:endParaRPr dirty="0"/>
            </a:p>
          </p:txBody>
        </p:sp>
        <p:sp>
          <p:nvSpPr>
            <p:cNvPr id="9" name="object 2">
              <a:extLst>
                <a:ext uri="{FF2B5EF4-FFF2-40B4-BE49-F238E27FC236}">
                  <a16:creationId xmlns:a16="http://schemas.microsoft.com/office/drawing/2014/main" id="{E479102F-5C71-B72D-8F79-3147D4B76FCA}"/>
                </a:ext>
              </a:extLst>
            </p:cNvPr>
            <p:cNvSpPr/>
            <p:nvPr/>
          </p:nvSpPr>
          <p:spPr>
            <a:xfrm>
              <a:off x="5237956"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FFBF00"/>
            </a:solidFill>
          </p:spPr>
          <p:txBody>
            <a:bodyPr wrap="square" lIns="0" tIns="0" rIns="0" bIns="0" rtlCol="0"/>
            <a:lstStyle/>
            <a:p>
              <a:endParaRPr dirty="0"/>
            </a:p>
          </p:txBody>
        </p:sp>
        <p:sp>
          <p:nvSpPr>
            <p:cNvPr id="10" name="object 2">
              <a:extLst>
                <a:ext uri="{FF2B5EF4-FFF2-40B4-BE49-F238E27FC236}">
                  <a16:creationId xmlns:a16="http://schemas.microsoft.com/office/drawing/2014/main" id="{EE798C52-8A9E-F529-5C12-97787ADC4EB0}"/>
                </a:ext>
              </a:extLst>
            </p:cNvPr>
            <p:cNvSpPr/>
            <p:nvPr/>
          </p:nvSpPr>
          <p:spPr>
            <a:xfrm>
              <a:off x="10800556"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FFA100"/>
            </a:solidFill>
          </p:spPr>
          <p:txBody>
            <a:bodyPr wrap="square" lIns="0" tIns="0" rIns="0" bIns="0" rtlCol="0"/>
            <a:lstStyle/>
            <a:p>
              <a:endParaRPr dirty="0"/>
            </a:p>
          </p:txBody>
        </p:sp>
      </p:grpSp>
    </p:spTree>
    <p:extLst>
      <p:ext uri="{BB962C8B-B14F-4D97-AF65-F5344CB8AC3E}">
        <p14:creationId xmlns:p14="http://schemas.microsoft.com/office/powerpoint/2010/main" val="42757008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2">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9010312" cy="10693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1" name="Freeform: Shape 34">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37661" y="0"/>
            <a:ext cx="15534990" cy="106934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42" name="Freeform: Shape 36">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48948" y="0"/>
            <a:ext cx="15512415" cy="106934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Rectangle 3">
            <a:extLst>
              <a:ext uri="{FF2B5EF4-FFF2-40B4-BE49-F238E27FC236}">
                <a16:creationId xmlns:a16="http://schemas.microsoft.com/office/drawing/2014/main" id="{BE90DCDC-37E0-40A9-B64A-24D5EA6D3C08}"/>
              </a:ext>
            </a:extLst>
          </p:cNvPr>
          <p:cNvSpPr/>
          <p:nvPr/>
        </p:nvSpPr>
        <p:spPr>
          <a:xfrm>
            <a:off x="2376293" y="3117918"/>
            <a:ext cx="14257735" cy="4309836"/>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7000" b="1" kern="1200" dirty="0">
                <a:solidFill>
                  <a:schemeClr val="tx1"/>
                </a:solidFill>
                <a:latin typeface="+mj-lt"/>
                <a:ea typeface="+mj-ea"/>
                <a:cs typeface="+mj-cs"/>
              </a:rPr>
              <a:t>Thank You!</a:t>
            </a:r>
          </a:p>
          <a:p>
            <a:pPr algn="ctr" defTabSz="914400">
              <a:lnSpc>
                <a:spcPct val="90000"/>
              </a:lnSpc>
              <a:spcBef>
                <a:spcPct val="0"/>
              </a:spcBef>
              <a:spcAft>
                <a:spcPts val="600"/>
              </a:spcAft>
            </a:pPr>
            <a:endParaRPr lang="en-US" sz="7000" b="1" kern="1200" dirty="0">
              <a:solidFill>
                <a:schemeClr val="tx1"/>
              </a:solidFill>
              <a:latin typeface="+mj-lt"/>
              <a:ea typeface="+mj-ea"/>
              <a:cs typeface="+mj-cs"/>
            </a:endParaRPr>
          </a:p>
          <a:p>
            <a:pPr algn="ctr" defTabSz="914400">
              <a:lnSpc>
                <a:spcPct val="90000"/>
              </a:lnSpc>
              <a:spcBef>
                <a:spcPct val="0"/>
              </a:spcBef>
              <a:spcAft>
                <a:spcPts val="600"/>
              </a:spcAft>
            </a:pPr>
            <a:br>
              <a:rPr lang="en-US" sz="7000" kern="1200" dirty="0">
                <a:solidFill>
                  <a:schemeClr val="tx1"/>
                </a:solidFill>
                <a:latin typeface="+mj-lt"/>
                <a:ea typeface="+mj-ea"/>
                <a:cs typeface="+mj-cs"/>
              </a:rPr>
            </a:br>
            <a:endParaRPr lang="en-US" sz="7000" kern="1200" dirty="0">
              <a:solidFill>
                <a:schemeClr val="tx1"/>
              </a:solidFill>
              <a:latin typeface="+mj-lt"/>
              <a:ea typeface="+mj-ea"/>
              <a:cs typeface="+mj-cs"/>
            </a:endParaRPr>
          </a:p>
        </p:txBody>
      </p:sp>
      <p:sp>
        <p:nvSpPr>
          <p:cNvPr id="39" name="Rectangle 38">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8145" y="8614573"/>
            <a:ext cx="7414022" cy="4277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Date Placeholder 2">
            <a:extLst>
              <a:ext uri="{FF2B5EF4-FFF2-40B4-BE49-F238E27FC236}">
                <a16:creationId xmlns:a16="http://schemas.microsoft.com/office/drawing/2014/main" id="{0ADFAA08-0AF0-47FA-84D5-620D475E17CE}"/>
              </a:ext>
            </a:extLst>
          </p:cNvPr>
          <p:cNvSpPr>
            <a:spLocks noGrp="1"/>
          </p:cNvSpPr>
          <p:nvPr>
            <p:ph type="dt" sz="half" idx="10"/>
          </p:nvPr>
        </p:nvSpPr>
        <p:spPr>
          <a:xfrm>
            <a:off x="676966" y="9911197"/>
            <a:ext cx="1818137" cy="569325"/>
          </a:xfrm>
        </p:spPr>
        <p:txBody>
          <a:bodyPr vert="horz" lIns="91440" tIns="45720" rIns="91440" bIns="45720" rtlCol="0" anchor="ctr">
            <a:normAutofit/>
          </a:bodyPr>
          <a:lstStyle/>
          <a:p>
            <a:pPr defTabSz="914400">
              <a:spcAft>
                <a:spcPts val="600"/>
              </a:spcAft>
            </a:pPr>
            <a:fld id="{9B1F2114-FAEA-40C2-BA9D-BABDEB1D8033}" type="datetime1">
              <a:rPr lang="en-US">
                <a:solidFill>
                  <a:schemeClr val="tx1">
                    <a:lumMod val="50000"/>
                    <a:lumOff val="50000"/>
                  </a:schemeClr>
                </a:solidFill>
              </a:rPr>
              <a:pPr defTabSz="914400">
                <a:spcAft>
                  <a:spcPts val="600"/>
                </a:spcAft>
              </a:pPr>
              <a:t>10/28/2025</a:t>
            </a:fld>
            <a:endParaRPr lang="en-US">
              <a:solidFill>
                <a:schemeClr val="tx1">
                  <a:lumMod val="50000"/>
                  <a:lumOff val="50000"/>
                </a:schemeClr>
              </a:solidFill>
            </a:endParaRPr>
          </a:p>
        </p:txBody>
      </p:sp>
      <p:sp>
        <p:nvSpPr>
          <p:cNvPr id="5" name="Slide Number Placeholder 4">
            <a:extLst>
              <a:ext uri="{FF2B5EF4-FFF2-40B4-BE49-F238E27FC236}">
                <a16:creationId xmlns:a16="http://schemas.microsoft.com/office/drawing/2014/main" id="{1EFF809B-B8CA-497D-95A9-4E704560E385}"/>
              </a:ext>
            </a:extLst>
          </p:cNvPr>
          <p:cNvSpPr>
            <a:spLocks noGrp="1"/>
          </p:cNvSpPr>
          <p:nvPr>
            <p:ph type="sldNum" sz="quarter" idx="12"/>
          </p:nvPr>
        </p:nvSpPr>
        <p:spPr>
          <a:xfrm>
            <a:off x="16354948" y="9911197"/>
            <a:ext cx="1978398" cy="569325"/>
          </a:xfrm>
        </p:spPr>
        <p:txBody>
          <a:bodyPr vert="horz" lIns="91440" tIns="45720" rIns="91440" bIns="45720" rtlCol="0" anchor="ctr">
            <a:normAutofit/>
          </a:bodyPr>
          <a:lstStyle/>
          <a:p>
            <a:pPr defTabSz="914400">
              <a:spcAft>
                <a:spcPts val="600"/>
              </a:spcAft>
            </a:pPr>
            <a:fld id="{DCC7CF5C-16A0-4876-B638-15BC6385E45C}" type="slidenum">
              <a:rPr lang="en-US">
                <a:solidFill>
                  <a:schemeClr val="tx1">
                    <a:lumMod val="50000"/>
                    <a:lumOff val="50000"/>
                  </a:schemeClr>
                </a:solidFill>
              </a:rPr>
              <a:pPr defTabSz="914400">
                <a:spcAft>
                  <a:spcPts val="600"/>
                </a:spcAft>
              </a:pPr>
              <a:t>17</a:t>
            </a:fld>
            <a:endParaRPr lang="en-US">
              <a:solidFill>
                <a:schemeClr val="tx1">
                  <a:lumMod val="50000"/>
                  <a:lumOff val="50000"/>
                </a:schemeClr>
              </a:solidFill>
            </a:endParaRPr>
          </a:p>
        </p:txBody>
      </p:sp>
    </p:spTree>
    <p:extLst>
      <p:ext uri="{BB962C8B-B14F-4D97-AF65-F5344CB8AC3E}">
        <p14:creationId xmlns:p14="http://schemas.microsoft.com/office/powerpoint/2010/main" val="1637603409"/>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6908</TotalTime>
  <Words>1984</Words>
  <Application>Microsoft Office PowerPoint</Application>
  <PresentationFormat>Custom</PresentationFormat>
  <Paragraphs>228</Paragraphs>
  <Slides>17</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17</vt:i4>
      </vt:variant>
    </vt:vector>
  </HeadingPairs>
  <TitlesOfParts>
    <vt:vector size="27" baseType="lpstr">
      <vt:lpstr>Arial</vt:lpstr>
      <vt:lpstr>Arial Rounded MT Bold</vt:lpstr>
      <vt:lpstr>Bahnschrift SemiBold Condensed</vt:lpstr>
      <vt:lpstr>Bahnschrift SemiBold SemiConden</vt:lpstr>
      <vt:lpstr>Bahnschrift SemiCondensed</vt:lpstr>
      <vt:lpstr>Bahnschrift SemiLight Condensed</vt:lpstr>
      <vt:lpstr>Calibri</vt:lpstr>
      <vt:lpstr>Calibri Light</vt:lpstr>
      <vt:lpstr>Times New Roman</vt:lpstr>
      <vt:lpstr>Custom Design</vt:lpstr>
      <vt:lpstr>PowerPoint Presentation</vt:lpstr>
      <vt:lpstr>What is the AI Cyber Defense Platform?</vt:lpstr>
      <vt:lpstr>Problem Statement </vt:lpstr>
      <vt:lpstr>Requirements Engineering  </vt:lpstr>
      <vt:lpstr>Design &amp; Development </vt:lpstr>
      <vt:lpstr>SMS Spam Classification using Machine Learning </vt:lpstr>
      <vt:lpstr>Secure Data Hiding Using Image Steganography </vt:lpstr>
      <vt:lpstr>AI-Powered Threat Detection </vt:lpstr>
      <vt:lpstr>Malware Detection</vt:lpstr>
      <vt:lpstr>PowerPoint Presentation</vt:lpstr>
      <vt:lpstr>File Hash Scanner</vt:lpstr>
      <vt:lpstr>Port Scanner </vt:lpstr>
      <vt:lpstr>PCAP Analyzer </vt:lpstr>
      <vt:lpstr>Conclusion</vt:lpstr>
      <vt:lpstr>Future Work</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Amit Kumar Bairwa</dc:creator>
  <cp:lastModifiedBy>Yatharth Khanna</cp:lastModifiedBy>
  <cp:revision>125</cp:revision>
  <dcterms:created xsi:type="dcterms:W3CDTF">2020-08-15T05:33:01Z</dcterms:created>
  <dcterms:modified xsi:type="dcterms:W3CDTF">2025-10-28T13:37:38Z</dcterms:modified>
</cp:coreProperties>
</file>